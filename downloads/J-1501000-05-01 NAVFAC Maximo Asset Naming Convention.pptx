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61" r:id="rId5"/>
    <p:sldId id="391" r:id="rId6"/>
    <p:sldId id="292" r:id="rId7"/>
    <p:sldId id="333" r:id="rId8"/>
    <p:sldId id="332" r:id="rId9"/>
    <p:sldId id="389" r:id="rId10"/>
    <p:sldId id="390" r:id="rId11"/>
    <p:sldId id="385" r:id="rId12"/>
    <p:sldId id="334" r:id="rId13"/>
    <p:sldId id="39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tiago, Yamil CIV NAVFAC SE, PW" initials="SYCNSP" lastIdx="1" clrIdx="0">
    <p:extLst>
      <p:ext uri="{19B8F6BF-5375-455C-9EA6-DF929625EA0E}">
        <p15:presenceInfo xmlns:p15="http://schemas.microsoft.com/office/powerpoint/2012/main" userId="S-1-5-21-1801674531-2146617017-725345543-5711676" providerId="AD"/>
      </p:ext>
    </p:extLst>
  </p:cmAuthor>
  <p:cmAuthor id="2" name="Reyes-Rosario, Carmelo CIV USN NAVFAC SE JAX FL (USA)" initials="RCCUNSJF(" lastIdx="1" clrIdx="1">
    <p:extLst>
      <p:ext uri="{19B8F6BF-5375-455C-9EA6-DF929625EA0E}">
        <p15:presenceInfo xmlns:p15="http://schemas.microsoft.com/office/powerpoint/2012/main" userId="S-1-5-21-1801674531-2146617017-725345543-449356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25" autoAdjust="0"/>
    <p:restoredTop sz="94660"/>
  </p:normalViewPr>
  <p:slideViewPr>
    <p:cSldViewPr snapToGrid="0">
      <p:cViewPr varScale="1">
        <p:scale>
          <a:sx n="63" d="100"/>
          <a:sy n="63" d="100"/>
        </p:scale>
        <p:origin x="92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PPTdesign2ccover"/>
          <p:cNvPicPr>
            <a:picLocks noChangeAspect="1" noChangeArrowheads="1"/>
          </p:cNvPicPr>
          <p:nvPr/>
        </p:nvPicPr>
        <p:blipFill>
          <a:blip r:embed="rId2" cstate="print"/>
          <a:srcRect/>
          <a:stretch>
            <a:fillRect/>
          </a:stretch>
        </p:blipFill>
        <p:spPr bwMode="auto">
          <a:xfrm>
            <a:off x="0" y="0"/>
            <a:ext cx="12192000" cy="6858000"/>
          </a:xfrm>
          <a:prstGeom prst="rect">
            <a:avLst/>
          </a:prstGeom>
          <a:noFill/>
          <a:ln w="9525">
            <a:noFill/>
            <a:miter lim="800000"/>
            <a:headEnd/>
            <a:tailEnd/>
          </a:ln>
        </p:spPr>
      </p:pic>
      <p:sp>
        <p:nvSpPr>
          <p:cNvPr id="5" name="Line 6"/>
          <p:cNvSpPr>
            <a:spLocks noChangeShapeType="1"/>
          </p:cNvSpPr>
          <p:nvPr/>
        </p:nvSpPr>
        <p:spPr bwMode="auto">
          <a:xfrm flipH="1">
            <a:off x="6813552" y="1998663"/>
            <a:ext cx="5084233" cy="0"/>
          </a:xfrm>
          <a:prstGeom prst="line">
            <a:avLst/>
          </a:prstGeom>
          <a:noFill/>
          <a:ln w="12700">
            <a:solidFill>
              <a:srgbClr val="0C2577"/>
            </a:solidFill>
            <a:round/>
            <a:headEnd/>
            <a:tailEnd/>
          </a:ln>
          <a:effectLst/>
        </p:spPr>
        <p:txBody>
          <a:bodyPr lIns="99276" tIns="49638" rIns="99276" bIns="49638">
            <a:spAutoFit/>
          </a:bodyPr>
          <a:lstStyle/>
          <a:p>
            <a:pPr algn="ctr">
              <a:defRPr/>
            </a:pPr>
            <a:endParaRPr lang="en-US" sz="1800" dirty="0"/>
          </a:p>
        </p:txBody>
      </p:sp>
      <p:sp>
        <p:nvSpPr>
          <p:cNvPr id="6" name="Text Box 7"/>
          <p:cNvSpPr txBox="1">
            <a:spLocks noChangeArrowheads="1"/>
          </p:cNvSpPr>
          <p:nvPr/>
        </p:nvSpPr>
        <p:spPr bwMode="auto">
          <a:xfrm>
            <a:off x="10901415" y="1971676"/>
            <a:ext cx="1131836" cy="207967"/>
          </a:xfrm>
          <a:prstGeom prst="rect">
            <a:avLst/>
          </a:prstGeom>
          <a:noFill/>
          <a:ln w="9525">
            <a:noFill/>
            <a:miter lim="800000"/>
            <a:headEnd/>
            <a:tailEnd/>
          </a:ln>
          <a:effectLst/>
        </p:spPr>
        <p:txBody>
          <a:bodyPr wrap="none" lIns="99276" tIns="49638" rIns="99276" bIns="49638">
            <a:spAutoFit/>
          </a:bodyPr>
          <a:lstStyle/>
          <a:p>
            <a:pPr algn="r">
              <a:defRPr/>
            </a:pPr>
            <a:r>
              <a:rPr lang="en-US" sz="700" dirty="0">
                <a:solidFill>
                  <a:srgbClr val="537DB9"/>
                </a:solidFill>
              </a:rPr>
              <a:t>NAVFAC SOUTHEAST</a:t>
            </a:r>
          </a:p>
        </p:txBody>
      </p:sp>
      <p:sp>
        <p:nvSpPr>
          <p:cNvPr id="128003" name="Rectangle 3"/>
          <p:cNvSpPr>
            <a:spLocks noGrp="1" noChangeArrowheads="1"/>
          </p:cNvSpPr>
          <p:nvPr>
            <p:ph type="ctrTitle"/>
          </p:nvPr>
        </p:nvSpPr>
        <p:spPr>
          <a:xfrm>
            <a:off x="3810000" y="2386014"/>
            <a:ext cx="6062133" cy="1000125"/>
          </a:xfrm>
        </p:spPr>
        <p:txBody>
          <a:bodyPr anchor="t"/>
          <a:lstStyle>
            <a:lvl1pPr>
              <a:defRPr>
                <a:latin typeface="Arial" charset="0"/>
              </a:defRPr>
            </a:lvl1pPr>
          </a:lstStyle>
          <a:p>
            <a:r>
              <a:rPr lang="en-US"/>
              <a:t>Click to add title</a:t>
            </a:r>
          </a:p>
        </p:txBody>
      </p:sp>
      <p:sp>
        <p:nvSpPr>
          <p:cNvPr id="128004" name="Rectangle 4"/>
          <p:cNvSpPr>
            <a:spLocks noGrp="1" noChangeArrowheads="1"/>
          </p:cNvSpPr>
          <p:nvPr>
            <p:ph type="subTitle" idx="1"/>
          </p:nvPr>
        </p:nvSpPr>
        <p:spPr>
          <a:xfrm>
            <a:off x="3810000" y="4249739"/>
            <a:ext cx="6047317" cy="611187"/>
          </a:xfrm>
        </p:spPr>
        <p:txBody>
          <a:bodyPr/>
          <a:lstStyle>
            <a:lvl1pPr marL="0" indent="0">
              <a:buFontTx/>
              <a:buNone/>
              <a:defRPr sz="1800">
                <a:solidFill>
                  <a:srgbClr val="009ED5"/>
                </a:solidFill>
                <a:latin typeface="Arial Narrow" pitchFamily="34" charset="0"/>
              </a:defRPr>
            </a:lvl1pPr>
          </a:lstStyle>
          <a:p>
            <a:r>
              <a:rPr lang="en-US"/>
              <a:t>Click to add subtitle</a:t>
            </a:r>
          </a:p>
        </p:txBody>
      </p:sp>
      <p:sp>
        <p:nvSpPr>
          <p:cNvPr id="7" name="Rectangle 5"/>
          <p:cNvSpPr>
            <a:spLocks noGrp="1" noChangeArrowheads="1"/>
          </p:cNvSpPr>
          <p:nvPr>
            <p:ph type="dt" sz="half" idx="10"/>
          </p:nvPr>
        </p:nvSpPr>
        <p:spPr bwMode="auto">
          <a:xfrm>
            <a:off x="3810000" y="6253163"/>
            <a:ext cx="2540000" cy="457200"/>
          </a:xfrm>
          <a:prstGeom prst="rect">
            <a:avLst/>
          </a:prstGeom>
          <a:ln>
            <a:miter lim="800000"/>
            <a:headEnd/>
            <a:tailEnd/>
          </a:ln>
        </p:spPr>
        <p:txBody>
          <a:bodyPr vert="horz" wrap="square" lIns="91433" tIns="45717" rIns="91433" bIns="45717" numCol="1" anchor="t" anchorCtr="0" compatLnSpc="1">
            <a:prstTxWarp prst="textNoShape">
              <a:avLst/>
            </a:prstTxWarp>
          </a:bodyPr>
          <a:lstStyle>
            <a:lvl1pPr algn="l">
              <a:defRPr b="1" i="1" dirty="0">
                <a:solidFill>
                  <a:srgbClr val="273D84"/>
                </a:solidFill>
              </a:defRPr>
            </a:lvl1pPr>
          </a:lstStyle>
          <a:p>
            <a:pPr>
              <a:defRPr/>
            </a:pPr>
            <a:endParaRPr lang="en-US" dirty="0"/>
          </a:p>
        </p:txBody>
      </p:sp>
    </p:spTree>
    <p:extLst>
      <p:ext uri="{BB962C8B-B14F-4D97-AF65-F5344CB8AC3E}">
        <p14:creationId xmlns:p14="http://schemas.microsoft.com/office/powerpoint/2010/main" val="2345847328"/>
      </p:ext>
    </p:extLst>
  </p:cSld>
  <p:clrMapOvr>
    <a:masterClrMapping/>
  </p:clrMapOvr>
  <p:transition>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sz="3200"/>
            </a:lvl1pPr>
          </a:lstStyle>
          <a:p>
            <a:r>
              <a:rPr lang="en-US" dirty="0"/>
              <a:t>Click to edit Master title style</a:t>
            </a:r>
          </a:p>
        </p:txBody>
      </p:sp>
      <p:sp>
        <p:nvSpPr>
          <p:cNvPr id="3" name="Content Placeholder 2"/>
          <p:cNvSpPr>
            <a:spLocks noGrp="1"/>
          </p:cNvSpPr>
          <p:nvPr>
            <p:ph idx="1"/>
          </p:nvPr>
        </p:nvSpPr>
        <p:spPr/>
        <p:txBody>
          <a:bodyPr/>
          <a:lstStyle>
            <a:lvl1pPr>
              <a:defRPr b="0"/>
            </a:lvl1pPr>
            <a:lvl2pPr>
              <a:defRPr b="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48858833"/>
      </p:ext>
    </p:extLst>
  </p:cSld>
  <p:clrMapOvr>
    <a:masterClrMapping/>
  </p:clrMapOvr>
  <p:transition>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219484239"/>
      </p:ext>
    </p:extLst>
  </p:cSld>
  <p:clrMapOvr>
    <a:masterClrMapping/>
  </p:clrMapOvr>
  <p:transition>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61484" y="1350963"/>
            <a:ext cx="5291667" cy="4811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56351" y="1350963"/>
            <a:ext cx="5293783" cy="48117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7345284"/>
      </p:ext>
    </p:extLst>
  </p:cSld>
  <p:clrMapOvr>
    <a:masterClrMapping/>
  </p:clrMapOvr>
  <p:transition>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1474761"/>
      </p:ext>
    </p:extLst>
  </p:cSld>
  <p:clrMapOvr>
    <a:masterClrMapping/>
  </p:clrMapOvr>
  <p:transition>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46369911"/>
      </p:ext>
    </p:extLst>
  </p:cSld>
  <p:clrMapOvr>
    <a:masterClrMapping/>
  </p:clrMapOvr>
  <p:transition>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4143582"/>
      </p:ext>
    </p:extLst>
  </p:cSld>
  <p:clrMapOvr>
    <a:masterClrMapping/>
  </p:clrMapOvr>
  <p:transition>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61298953"/>
      </p:ext>
    </p:extLst>
  </p:cSld>
  <p:clrMapOvr>
    <a:masterClrMapping/>
  </p:clrMapOvr>
  <p:transition>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47115949"/>
      </p:ext>
    </p:extLst>
  </p:cSld>
  <p:clrMapOvr>
    <a:masterClrMapping/>
  </p:clrMapOvr>
  <p:transition>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025463"/>
      </p:ext>
    </p:extLst>
  </p:cSld>
  <p:clrMapOvr>
    <a:masterClrMapping/>
  </p:clrMapOvr>
  <p:transition>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53501" y="177801"/>
            <a:ext cx="2696633" cy="59848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61484" y="177801"/>
            <a:ext cx="7888816" cy="5984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14086464"/>
      </p:ext>
    </p:extLst>
  </p:cSld>
  <p:clrMapOvr>
    <a:masterClrMapping/>
  </p:clrMapOvr>
  <p:transition>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61485" y="177801"/>
            <a:ext cx="10788649" cy="5984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5198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descr="PPTdesign2a"/>
          <p:cNvPicPr>
            <a:picLocks noChangeAspect="1" noChangeArrowheads="1"/>
          </p:cNvPicPr>
          <p:nvPr/>
        </p:nvPicPr>
        <p:blipFill>
          <a:blip r:embed="rId14" cstate="print"/>
          <a:srcRect/>
          <a:stretch>
            <a:fillRect/>
          </a:stretch>
        </p:blipFill>
        <p:spPr bwMode="auto">
          <a:xfrm>
            <a:off x="0" y="0"/>
            <a:ext cx="12192000" cy="6858000"/>
          </a:xfrm>
          <a:prstGeom prst="rect">
            <a:avLst/>
          </a:prstGeom>
          <a:noFill/>
          <a:ln w="9525">
            <a:noFill/>
            <a:miter lim="800000"/>
            <a:headEnd/>
            <a:tailEnd/>
          </a:ln>
        </p:spPr>
      </p:pic>
      <p:sp>
        <p:nvSpPr>
          <p:cNvPr id="1027" name="Rectangle 3"/>
          <p:cNvSpPr>
            <a:spLocks noGrp="1" noChangeArrowheads="1"/>
          </p:cNvSpPr>
          <p:nvPr>
            <p:ph type="title"/>
          </p:nvPr>
        </p:nvSpPr>
        <p:spPr bwMode="auto">
          <a:xfrm>
            <a:off x="1623485" y="177801"/>
            <a:ext cx="9332383" cy="835025"/>
          </a:xfrm>
          <a:prstGeom prst="rect">
            <a:avLst/>
          </a:prstGeom>
          <a:noFill/>
          <a:ln w="9525">
            <a:noFill/>
            <a:miter lim="800000"/>
            <a:headEnd/>
            <a:tailEnd/>
          </a:ln>
        </p:spPr>
        <p:txBody>
          <a:bodyPr vert="horz" wrap="square" lIns="91433" tIns="45717" rIns="91433" bIns="45717" numCol="1" anchor="ctr" anchorCtr="0" compatLnSpc="1">
            <a:prstTxWarp prst="textNoShape">
              <a:avLst/>
            </a:prstTxWarp>
          </a:bodyPr>
          <a:lstStyle/>
          <a:p>
            <a:pPr lvl="0"/>
            <a:r>
              <a:rPr lang="en-US"/>
              <a:t>Click to edit Master title style</a:t>
            </a:r>
          </a:p>
        </p:txBody>
      </p:sp>
      <p:sp>
        <p:nvSpPr>
          <p:cNvPr id="1028" name="Rectangle 4"/>
          <p:cNvSpPr>
            <a:spLocks noGrp="1" noChangeArrowheads="1"/>
          </p:cNvSpPr>
          <p:nvPr>
            <p:ph type="body" idx="1"/>
          </p:nvPr>
        </p:nvSpPr>
        <p:spPr bwMode="auto">
          <a:xfrm>
            <a:off x="861485" y="1350963"/>
            <a:ext cx="10788649" cy="4811712"/>
          </a:xfrm>
          <a:prstGeom prst="rect">
            <a:avLst/>
          </a:prstGeom>
          <a:noFill/>
          <a:ln w="9525">
            <a:noFill/>
            <a:miter lim="800000"/>
            <a:headEnd/>
            <a:tailEnd/>
          </a:ln>
        </p:spPr>
        <p:txBody>
          <a:bodyPr vert="horz" wrap="square" lIns="91433" tIns="45717" rIns="91433" bIns="45717"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6981" name="Text Box 5"/>
          <p:cNvSpPr txBox="1">
            <a:spLocks noChangeArrowheads="1"/>
          </p:cNvSpPr>
          <p:nvPr/>
        </p:nvSpPr>
        <p:spPr bwMode="auto">
          <a:xfrm>
            <a:off x="82551" y="6584950"/>
            <a:ext cx="1308100" cy="306388"/>
          </a:xfrm>
          <a:prstGeom prst="rect">
            <a:avLst/>
          </a:prstGeom>
          <a:noFill/>
          <a:ln w="9525">
            <a:noFill/>
            <a:miter lim="800000"/>
            <a:headEnd/>
            <a:tailEnd/>
          </a:ln>
          <a:effectLst/>
        </p:spPr>
        <p:txBody>
          <a:bodyPr lIns="91433" tIns="45717" rIns="91433" bIns="45717"/>
          <a:lstStyle/>
          <a:p>
            <a:pPr>
              <a:defRPr/>
            </a:pPr>
            <a:fld id="{EDDBD5FD-8600-4AC9-83CD-6BE7D2FABCD5}" type="slidenum">
              <a:rPr lang="en-US" sz="1200" i="1">
                <a:solidFill>
                  <a:srgbClr val="009ED5"/>
                </a:solidFill>
              </a:rPr>
              <a:pPr>
                <a:defRPr/>
              </a:pPr>
              <a:t>‹#›</a:t>
            </a:fld>
            <a:endParaRPr lang="en-US" sz="1200" i="1" dirty="0">
              <a:solidFill>
                <a:srgbClr val="009ED5"/>
              </a:solidFill>
            </a:endParaRPr>
          </a:p>
        </p:txBody>
      </p:sp>
    </p:spTree>
    <p:extLst>
      <p:ext uri="{BB962C8B-B14F-4D97-AF65-F5344CB8AC3E}">
        <p14:creationId xmlns:p14="http://schemas.microsoft.com/office/powerpoint/2010/main" val="41234062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cover/>
  </p:transition>
  <p:txStyles>
    <p:titleStyle>
      <a:lvl1pPr algn="l" rtl="0" eaLnBrk="0" fontAlgn="base" hangingPunct="0">
        <a:spcBef>
          <a:spcPct val="0"/>
        </a:spcBef>
        <a:spcAft>
          <a:spcPct val="0"/>
        </a:spcAft>
        <a:defRPr sz="2200" b="1">
          <a:solidFill>
            <a:srgbClr val="273D84"/>
          </a:solidFill>
          <a:latin typeface="+mj-lt"/>
          <a:ea typeface="+mj-ea"/>
          <a:cs typeface="+mj-cs"/>
        </a:defRPr>
      </a:lvl1pPr>
      <a:lvl2pPr algn="l" rtl="0" eaLnBrk="0" fontAlgn="base" hangingPunct="0">
        <a:spcBef>
          <a:spcPct val="0"/>
        </a:spcBef>
        <a:spcAft>
          <a:spcPct val="0"/>
        </a:spcAft>
        <a:defRPr sz="2200" b="1">
          <a:solidFill>
            <a:srgbClr val="273D84"/>
          </a:solidFill>
          <a:latin typeface="Arial Narrow" pitchFamily="34" charset="0"/>
        </a:defRPr>
      </a:lvl2pPr>
      <a:lvl3pPr algn="l" rtl="0" eaLnBrk="0" fontAlgn="base" hangingPunct="0">
        <a:spcBef>
          <a:spcPct val="0"/>
        </a:spcBef>
        <a:spcAft>
          <a:spcPct val="0"/>
        </a:spcAft>
        <a:defRPr sz="2200" b="1">
          <a:solidFill>
            <a:srgbClr val="273D84"/>
          </a:solidFill>
          <a:latin typeface="Arial Narrow" pitchFamily="34" charset="0"/>
        </a:defRPr>
      </a:lvl3pPr>
      <a:lvl4pPr algn="l" rtl="0" eaLnBrk="0" fontAlgn="base" hangingPunct="0">
        <a:spcBef>
          <a:spcPct val="0"/>
        </a:spcBef>
        <a:spcAft>
          <a:spcPct val="0"/>
        </a:spcAft>
        <a:defRPr sz="2200" b="1">
          <a:solidFill>
            <a:srgbClr val="273D84"/>
          </a:solidFill>
          <a:latin typeface="Arial Narrow" pitchFamily="34" charset="0"/>
        </a:defRPr>
      </a:lvl4pPr>
      <a:lvl5pPr algn="l" rtl="0" eaLnBrk="0" fontAlgn="base" hangingPunct="0">
        <a:spcBef>
          <a:spcPct val="0"/>
        </a:spcBef>
        <a:spcAft>
          <a:spcPct val="0"/>
        </a:spcAft>
        <a:defRPr sz="2200" b="1">
          <a:solidFill>
            <a:srgbClr val="273D84"/>
          </a:solidFill>
          <a:latin typeface="Arial Narrow" pitchFamily="34" charset="0"/>
        </a:defRPr>
      </a:lvl5pPr>
      <a:lvl6pPr marL="457200" algn="l" rtl="0" fontAlgn="base">
        <a:spcBef>
          <a:spcPct val="0"/>
        </a:spcBef>
        <a:spcAft>
          <a:spcPct val="0"/>
        </a:spcAft>
        <a:defRPr sz="2200" b="1">
          <a:solidFill>
            <a:srgbClr val="273D84"/>
          </a:solidFill>
          <a:latin typeface="Arial Narrow" pitchFamily="34" charset="0"/>
        </a:defRPr>
      </a:lvl6pPr>
      <a:lvl7pPr marL="914400" algn="l" rtl="0" fontAlgn="base">
        <a:spcBef>
          <a:spcPct val="0"/>
        </a:spcBef>
        <a:spcAft>
          <a:spcPct val="0"/>
        </a:spcAft>
        <a:defRPr sz="2200" b="1">
          <a:solidFill>
            <a:srgbClr val="273D84"/>
          </a:solidFill>
          <a:latin typeface="Arial Narrow" pitchFamily="34" charset="0"/>
        </a:defRPr>
      </a:lvl7pPr>
      <a:lvl8pPr marL="1371600" algn="l" rtl="0" fontAlgn="base">
        <a:spcBef>
          <a:spcPct val="0"/>
        </a:spcBef>
        <a:spcAft>
          <a:spcPct val="0"/>
        </a:spcAft>
        <a:defRPr sz="2200" b="1">
          <a:solidFill>
            <a:srgbClr val="273D84"/>
          </a:solidFill>
          <a:latin typeface="Arial Narrow" pitchFamily="34" charset="0"/>
        </a:defRPr>
      </a:lvl8pPr>
      <a:lvl9pPr marL="1828800" algn="l" rtl="0" fontAlgn="base">
        <a:spcBef>
          <a:spcPct val="0"/>
        </a:spcBef>
        <a:spcAft>
          <a:spcPct val="0"/>
        </a:spcAft>
        <a:defRPr sz="2200" b="1">
          <a:solidFill>
            <a:srgbClr val="273D84"/>
          </a:solidFill>
          <a:latin typeface="Arial Narrow" pitchFamily="34" charset="0"/>
        </a:defRPr>
      </a:lvl9pPr>
    </p:titleStyle>
    <p:bodyStyle>
      <a:lvl1pPr marL="114300" indent="-114300" algn="l" rtl="0" eaLnBrk="0" fontAlgn="base" hangingPunct="0">
        <a:spcBef>
          <a:spcPct val="20000"/>
        </a:spcBef>
        <a:spcAft>
          <a:spcPct val="0"/>
        </a:spcAft>
        <a:buChar char="•"/>
        <a:defRPr sz="2000" b="1">
          <a:solidFill>
            <a:srgbClr val="003367"/>
          </a:solidFill>
          <a:latin typeface="+mn-lt"/>
          <a:ea typeface="+mn-ea"/>
          <a:cs typeface="+mn-cs"/>
        </a:defRPr>
      </a:lvl1pPr>
      <a:lvl2pPr marL="571500" indent="-114300" algn="l" rtl="0" eaLnBrk="0" fontAlgn="base" hangingPunct="0">
        <a:spcBef>
          <a:spcPct val="20000"/>
        </a:spcBef>
        <a:spcAft>
          <a:spcPct val="0"/>
        </a:spcAft>
        <a:buChar char="–"/>
        <a:defRPr b="1">
          <a:solidFill>
            <a:srgbClr val="003367"/>
          </a:solidFill>
          <a:latin typeface="+mn-lt"/>
        </a:defRPr>
      </a:lvl2pPr>
      <a:lvl3pPr marL="1028700" indent="-114300" algn="l" rtl="0" eaLnBrk="0" fontAlgn="base" hangingPunct="0">
        <a:spcBef>
          <a:spcPct val="20000"/>
        </a:spcBef>
        <a:spcAft>
          <a:spcPct val="0"/>
        </a:spcAft>
        <a:buChar char="•"/>
        <a:defRPr sz="1600">
          <a:solidFill>
            <a:srgbClr val="003367"/>
          </a:solidFill>
          <a:latin typeface="+mn-lt"/>
        </a:defRPr>
      </a:lvl3pPr>
      <a:lvl4pPr marL="1485900" indent="-114300" algn="l" rtl="0" eaLnBrk="0" fontAlgn="base" hangingPunct="0">
        <a:spcBef>
          <a:spcPct val="20000"/>
        </a:spcBef>
        <a:spcAft>
          <a:spcPct val="0"/>
        </a:spcAft>
        <a:buChar char="–"/>
        <a:defRPr sz="1400">
          <a:solidFill>
            <a:srgbClr val="003367"/>
          </a:solidFill>
          <a:latin typeface="+mn-lt"/>
        </a:defRPr>
      </a:lvl4pPr>
      <a:lvl5pPr marL="1943100" indent="-114300" algn="l" rtl="0" eaLnBrk="0" fontAlgn="base" hangingPunct="0">
        <a:spcBef>
          <a:spcPct val="20000"/>
        </a:spcBef>
        <a:spcAft>
          <a:spcPct val="0"/>
        </a:spcAft>
        <a:buChar char="»"/>
        <a:defRPr sz="1400">
          <a:solidFill>
            <a:srgbClr val="003367"/>
          </a:solidFill>
          <a:latin typeface="+mn-lt"/>
        </a:defRPr>
      </a:lvl5pPr>
      <a:lvl6pPr marL="2400300" indent="-114300" algn="l" rtl="0" fontAlgn="base">
        <a:spcBef>
          <a:spcPct val="20000"/>
        </a:spcBef>
        <a:spcAft>
          <a:spcPct val="0"/>
        </a:spcAft>
        <a:buChar char="»"/>
        <a:defRPr sz="1400">
          <a:solidFill>
            <a:srgbClr val="003367"/>
          </a:solidFill>
          <a:latin typeface="+mn-lt"/>
        </a:defRPr>
      </a:lvl6pPr>
      <a:lvl7pPr marL="2857500" indent="-114300" algn="l" rtl="0" fontAlgn="base">
        <a:spcBef>
          <a:spcPct val="20000"/>
        </a:spcBef>
        <a:spcAft>
          <a:spcPct val="0"/>
        </a:spcAft>
        <a:buChar char="»"/>
        <a:defRPr sz="1400">
          <a:solidFill>
            <a:srgbClr val="003367"/>
          </a:solidFill>
          <a:latin typeface="+mn-lt"/>
        </a:defRPr>
      </a:lvl7pPr>
      <a:lvl8pPr marL="3314700" indent="-114300" algn="l" rtl="0" fontAlgn="base">
        <a:spcBef>
          <a:spcPct val="20000"/>
        </a:spcBef>
        <a:spcAft>
          <a:spcPct val="0"/>
        </a:spcAft>
        <a:buChar char="»"/>
        <a:defRPr sz="1400">
          <a:solidFill>
            <a:srgbClr val="003367"/>
          </a:solidFill>
          <a:latin typeface="+mn-lt"/>
        </a:defRPr>
      </a:lvl8pPr>
      <a:lvl9pPr marL="3771900" indent="-114300" algn="l" rtl="0" fontAlgn="base">
        <a:spcBef>
          <a:spcPct val="20000"/>
        </a:spcBef>
        <a:spcAft>
          <a:spcPct val="0"/>
        </a:spcAft>
        <a:buChar char="»"/>
        <a:defRPr sz="1400">
          <a:solidFill>
            <a:srgbClr val="003367"/>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Asset Naming Convention</a:t>
            </a:r>
          </a:p>
        </p:txBody>
      </p:sp>
      <p:sp>
        <p:nvSpPr>
          <p:cNvPr id="3" name="Content Placeholder 2"/>
          <p:cNvSpPr>
            <a:spLocks noGrp="1"/>
          </p:cNvSpPr>
          <p:nvPr>
            <p:ph idx="1"/>
          </p:nvPr>
        </p:nvSpPr>
        <p:spPr>
          <a:xfrm>
            <a:off x="861485" y="1350963"/>
            <a:ext cx="10989620" cy="4811712"/>
          </a:xfrm>
        </p:spPr>
        <p:txBody>
          <a:bodyPr/>
          <a:lstStyle/>
          <a:p>
            <a:r>
              <a:rPr lang="en-US" b="1" dirty="0"/>
              <a:t>Asset Number </a:t>
            </a:r>
            <a:r>
              <a:rPr lang="en-US" dirty="0"/>
              <a:t>- Create combining Zone, Location bldg. # (ie.298), </a:t>
            </a:r>
            <a:r>
              <a:rPr lang="en-US" b="1" dirty="0"/>
              <a:t>Acronym from sub-system list</a:t>
            </a:r>
            <a:r>
              <a:rPr lang="en-US" dirty="0"/>
              <a:t> and 01,02 etc. Use all CAPS </a:t>
            </a:r>
          </a:p>
          <a:p>
            <a:pPr marL="0" indent="0" algn="ctr">
              <a:buNone/>
            </a:pPr>
            <a:r>
              <a:rPr lang="en-US" sz="6600" dirty="0"/>
              <a:t>MYP-298-TOI-01</a:t>
            </a:r>
          </a:p>
          <a:p>
            <a:pPr marL="0" indent="0">
              <a:buNone/>
            </a:pPr>
            <a:r>
              <a:rPr lang="en-US" sz="2400" b="1" dirty="0">
                <a:solidFill>
                  <a:srgbClr val="FF0000"/>
                </a:solidFill>
              </a:rPr>
              <a:t>                               Zone              bldg.#        Acronym    Item #     </a:t>
            </a:r>
          </a:p>
          <a:p>
            <a:pPr marL="0" indent="0">
              <a:buNone/>
            </a:pPr>
            <a:endParaRPr lang="en-US" sz="2400" dirty="0"/>
          </a:p>
          <a:p>
            <a:pPr lvl="1"/>
            <a:r>
              <a:rPr lang="en-US" sz="2200" dirty="0"/>
              <a:t>This asset number represents </a:t>
            </a:r>
            <a:r>
              <a:rPr lang="en-US" sz="2200" b="1" dirty="0"/>
              <a:t>ALL</a:t>
            </a:r>
            <a:r>
              <a:rPr lang="en-US" sz="2200" dirty="0"/>
              <a:t> Toilets in bldg. 298.</a:t>
            </a:r>
          </a:p>
          <a:p>
            <a:pPr lvl="1"/>
            <a:r>
              <a:rPr lang="en-US" sz="2200" dirty="0"/>
              <a:t>Always start the Items #s with 01. If there are more than one item per </a:t>
            </a:r>
            <a:r>
              <a:rPr lang="en-US" sz="2200" b="1" dirty="0"/>
              <a:t>sub-system</a:t>
            </a:r>
            <a:r>
              <a:rPr lang="en-US" sz="2200" dirty="0"/>
              <a:t> in a bldg. then use 02,03 etc. Example:</a:t>
            </a:r>
          </a:p>
          <a:p>
            <a:pPr marL="457200" lvl="1" indent="0">
              <a:buNone/>
            </a:pPr>
            <a:r>
              <a:rPr lang="en-US" sz="2200" dirty="0"/>
              <a:t>FLUORECENT INTERIOR LIGHTING - MYP-298-ILG-01</a:t>
            </a:r>
          </a:p>
          <a:p>
            <a:pPr marL="457200" lvl="1" indent="0">
              <a:buNone/>
            </a:pPr>
            <a:r>
              <a:rPr lang="en-US" sz="2200" dirty="0"/>
              <a:t>LED INTERIOR LIGHTING, SUSPENDED - MYP-298-ILG-02</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2793490358"/>
      </p:ext>
    </p:extLst>
  </p:cSld>
  <p:clrMapOvr>
    <a:masterClrMapping/>
  </p:clrMapOvr>
  <p:transition>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A7739-7A32-D62C-05A8-A3029224C7FA}"/>
              </a:ext>
            </a:extLst>
          </p:cNvPr>
          <p:cNvSpPr>
            <a:spLocks noGrp="1"/>
          </p:cNvSpPr>
          <p:nvPr>
            <p:ph type="title"/>
          </p:nvPr>
        </p:nvSpPr>
        <p:spPr/>
        <p:txBody>
          <a:bodyPr/>
          <a:lstStyle/>
          <a:p>
            <a:r>
              <a:rPr lang="en-US" dirty="0"/>
              <a:t>Asset Naming Convention (Special Areas)</a:t>
            </a:r>
          </a:p>
        </p:txBody>
      </p:sp>
      <p:sp>
        <p:nvSpPr>
          <p:cNvPr id="3" name="Content Placeholder 2">
            <a:extLst>
              <a:ext uri="{FF2B5EF4-FFF2-40B4-BE49-F238E27FC236}">
                <a16:creationId xmlns:a16="http://schemas.microsoft.com/office/drawing/2014/main" id="{77582392-2ED9-8C52-5AC5-171B3C7EB937}"/>
              </a:ext>
            </a:extLst>
          </p:cNvPr>
          <p:cNvSpPr>
            <a:spLocks noGrp="1"/>
          </p:cNvSpPr>
          <p:nvPr>
            <p:ph idx="1"/>
          </p:nvPr>
        </p:nvSpPr>
        <p:spPr/>
        <p: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endParaRPr lang="en-US" sz="2800" dirty="0">
              <a:latin typeface="Arial"/>
            </a:endParaRPr>
          </a:p>
          <a:p>
            <a:pPr marL="0" marR="0" lvl="0" indent="0" algn="ctr" defTabSz="914400" rtl="0" eaLnBrk="0" fontAlgn="base" latinLnBrk="0" hangingPunct="0">
              <a:lnSpc>
                <a:spcPct val="100000"/>
              </a:lnSpc>
              <a:spcBef>
                <a:spcPct val="20000"/>
              </a:spcBef>
              <a:spcAft>
                <a:spcPct val="0"/>
              </a:spcAft>
              <a:buClrTx/>
              <a:buSzTx/>
              <a:buFontTx/>
              <a:buNone/>
              <a:tabLst/>
              <a:defRPr/>
            </a:pPr>
            <a:r>
              <a:rPr lang="en-US" sz="6600" dirty="0">
                <a:latin typeface="Arial"/>
              </a:rPr>
              <a:t>PAN-</a:t>
            </a:r>
            <a:r>
              <a:rPr lang="en-US" sz="6600" dirty="0">
                <a:solidFill>
                  <a:srgbClr val="FF0000"/>
                </a:solidFill>
                <a:latin typeface="Arial"/>
              </a:rPr>
              <a:t>TA</a:t>
            </a:r>
            <a:r>
              <a:rPr kumimoji="0" lang="en-US" sz="6600" b="0" i="0" u="none" strike="noStrike" kern="0" cap="none" spc="0" normalizeH="0" baseline="0" noProof="0" dirty="0">
                <a:ln>
                  <a:noFill/>
                </a:ln>
                <a:solidFill>
                  <a:srgbClr val="003367"/>
                </a:solidFill>
                <a:effectLst/>
                <a:uLnTx/>
                <a:uFillTx/>
                <a:latin typeface="Arial"/>
                <a:ea typeface="+mn-ea"/>
                <a:cs typeface="+mn-cs"/>
              </a:rPr>
              <a:t>-1-TOI-01</a:t>
            </a:r>
          </a:p>
          <a:p>
            <a:pPr marL="0" marR="0" lvl="0" indent="0" algn="ctr" defTabSz="914400" rtl="0" eaLnBrk="0" fontAlgn="base" latinLnBrk="0" hangingPunct="0">
              <a:lnSpc>
                <a:spcPct val="100000"/>
              </a:lnSpc>
              <a:spcBef>
                <a:spcPct val="20000"/>
              </a:spcBef>
              <a:spcAft>
                <a:spcPct val="0"/>
              </a:spcAft>
              <a:buClrTx/>
              <a:buSzTx/>
              <a:buFontTx/>
              <a:buNone/>
              <a:tabLst/>
              <a:defRPr/>
            </a:pPr>
            <a:endParaRPr kumimoji="0" lang="en-US" sz="2400" b="0" i="0" u="none" strike="noStrike" kern="0" cap="none" spc="0" normalizeH="0" baseline="0" noProof="0" dirty="0">
              <a:ln>
                <a:noFill/>
              </a:ln>
              <a:solidFill>
                <a:srgbClr val="003367"/>
              </a:solidFill>
              <a:effectLst/>
              <a:uLnTx/>
              <a:uFillTx/>
              <a:latin typeface="Arial"/>
              <a:ea typeface="+mn-ea"/>
              <a:cs typeface="+mn-cs"/>
            </a:endParaRPr>
          </a:p>
          <a:p>
            <a:pPr marL="0" indent="0">
              <a:buNone/>
            </a:pPr>
            <a:r>
              <a:rPr lang="en-US" dirty="0">
                <a:solidFill>
                  <a:srgbClr val="FF0000"/>
                </a:solidFill>
              </a:rPr>
              <a:t>                              </a:t>
            </a:r>
            <a:r>
              <a:rPr lang="en-US" b="1" dirty="0">
                <a:solidFill>
                  <a:schemeClr val="tx1"/>
                </a:solidFill>
              </a:rPr>
              <a:t>Zone   -   </a:t>
            </a:r>
            <a:r>
              <a:rPr lang="en-US" b="1" dirty="0">
                <a:solidFill>
                  <a:srgbClr val="FF0000"/>
                </a:solidFill>
              </a:rPr>
              <a:t>Special Area  </a:t>
            </a:r>
            <a:r>
              <a:rPr lang="en-US" b="1" dirty="0">
                <a:solidFill>
                  <a:schemeClr val="tx1"/>
                </a:solidFill>
              </a:rPr>
              <a:t>-   Bldg. #   -  Acronym  -  Item #</a:t>
            </a:r>
          </a:p>
          <a:p>
            <a:pPr marL="0" indent="0">
              <a:buNone/>
            </a:pPr>
            <a:endParaRPr lang="en-US" b="1" dirty="0">
              <a:solidFill>
                <a:srgbClr val="FF0000"/>
              </a:solidFill>
            </a:endParaRPr>
          </a:p>
        </p:txBody>
      </p:sp>
      <p:sp>
        <p:nvSpPr>
          <p:cNvPr id="5" name="TextBox 4">
            <a:extLst>
              <a:ext uri="{FF2B5EF4-FFF2-40B4-BE49-F238E27FC236}">
                <a16:creationId xmlns:a16="http://schemas.microsoft.com/office/drawing/2014/main" id="{B626588B-4647-58EF-99CB-CCF0E373F84C}"/>
              </a:ext>
            </a:extLst>
          </p:cNvPr>
          <p:cNvSpPr txBox="1"/>
          <p:nvPr/>
        </p:nvSpPr>
        <p:spPr>
          <a:xfrm>
            <a:off x="1600912" y="4799151"/>
            <a:ext cx="8990175" cy="1077218"/>
          </a:xfrm>
          <a:prstGeom prst="rect">
            <a:avLst/>
          </a:prstGeom>
          <a:noFill/>
        </p:spPr>
        <p:txBody>
          <a:bodyPr wrap="square">
            <a:spAutoFit/>
          </a:bodyPr>
          <a:lstStyle/>
          <a:p>
            <a:pPr marL="114300" marR="0" lvl="0" indent="-114300" algn="l" defTabSz="914400" rtl="0" eaLnBrk="0" fontAlgn="base" latinLnBrk="0" hangingPunct="0">
              <a:lnSpc>
                <a:spcPct val="100000"/>
              </a:lnSpc>
              <a:spcBef>
                <a:spcPct val="20000"/>
              </a:spcBef>
              <a:spcAft>
                <a:spcPct val="0"/>
              </a:spcAft>
              <a:buClrTx/>
              <a:buSzTx/>
              <a:buFontTx/>
              <a:buChar char="•"/>
              <a:tabLst/>
              <a:defRPr/>
            </a:pPr>
            <a:r>
              <a:rPr kumimoji="0" lang="en-US" sz="2000" b="1" i="0" u="none" strike="noStrike" kern="0" cap="none" spc="0" normalizeH="0" baseline="0" noProof="0" dirty="0">
                <a:ln>
                  <a:noFill/>
                </a:ln>
                <a:solidFill>
                  <a:srgbClr val="003367"/>
                </a:solidFill>
                <a:effectLst/>
                <a:uLnTx/>
                <a:uFillTx/>
                <a:latin typeface="Arial"/>
                <a:ea typeface="+mn-ea"/>
                <a:cs typeface="+mn-cs"/>
              </a:rPr>
              <a:t>Asset Number </a:t>
            </a:r>
            <a:r>
              <a:rPr kumimoji="0" lang="en-US" sz="2000" b="0" i="0" u="none" strike="noStrike" kern="0" cap="none" spc="0" normalizeH="0" baseline="0" noProof="0" dirty="0">
                <a:ln>
                  <a:noFill/>
                </a:ln>
                <a:solidFill>
                  <a:srgbClr val="003367"/>
                </a:solidFill>
                <a:effectLst/>
                <a:uLnTx/>
                <a:uFillTx/>
                <a:latin typeface="Arial"/>
                <a:ea typeface="+mn-ea"/>
                <a:cs typeface="+mn-cs"/>
              </a:rPr>
              <a:t>- Create combining Zone, </a:t>
            </a:r>
            <a:r>
              <a:rPr kumimoji="0" lang="en-US" sz="2000" b="0" i="0" u="none" strike="noStrike" kern="0" cap="none" spc="0" normalizeH="0" baseline="0" noProof="0" dirty="0">
                <a:ln>
                  <a:noFill/>
                </a:ln>
                <a:solidFill>
                  <a:srgbClr val="FF0000"/>
                </a:solidFill>
                <a:effectLst/>
                <a:uLnTx/>
                <a:uFillTx/>
                <a:latin typeface="Arial"/>
                <a:ea typeface="+mn-ea"/>
                <a:cs typeface="+mn-cs"/>
              </a:rPr>
              <a:t>Special</a:t>
            </a:r>
            <a:r>
              <a:rPr kumimoji="0" lang="en-US" sz="2000" b="0" i="0" u="none" strike="noStrike" kern="0" cap="none" spc="0" normalizeH="0" baseline="0" noProof="0" dirty="0">
                <a:ln>
                  <a:noFill/>
                </a:ln>
                <a:solidFill>
                  <a:srgbClr val="003367"/>
                </a:solidFill>
                <a:effectLst/>
                <a:uLnTx/>
                <a:uFillTx/>
                <a:latin typeface="Arial"/>
                <a:ea typeface="+mn-ea"/>
                <a:cs typeface="+mn-cs"/>
              </a:rPr>
              <a:t> </a:t>
            </a:r>
            <a:r>
              <a:rPr kumimoji="0" lang="en-US" sz="2000" b="0" i="0" u="none" strike="noStrike" kern="0" cap="none" spc="0" normalizeH="0" baseline="0" noProof="0" dirty="0">
                <a:ln>
                  <a:noFill/>
                </a:ln>
                <a:solidFill>
                  <a:srgbClr val="FF0000"/>
                </a:solidFill>
                <a:effectLst/>
                <a:uLnTx/>
                <a:uFillTx/>
                <a:latin typeface="Arial"/>
                <a:ea typeface="+mn-ea"/>
                <a:cs typeface="+mn-cs"/>
              </a:rPr>
              <a:t>Area Code</a:t>
            </a:r>
            <a:r>
              <a:rPr kumimoji="0" lang="en-US" sz="2000" b="0" i="0" u="none" strike="noStrike" kern="0" cap="none" spc="0" normalizeH="0" baseline="0" noProof="0" dirty="0">
                <a:ln>
                  <a:noFill/>
                </a:ln>
                <a:solidFill>
                  <a:srgbClr val="003367"/>
                </a:solidFill>
                <a:effectLst/>
                <a:uLnTx/>
                <a:uFillTx/>
                <a:latin typeface="Arial"/>
                <a:ea typeface="+mn-ea"/>
                <a:cs typeface="+mn-cs"/>
              </a:rPr>
              <a:t>, Location bldg. # (ie.298), </a:t>
            </a:r>
            <a:r>
              <a:rPr kumimoji="0" lang="en-US" sz="2000" b="1" i="0" u="none" strike="noStrike" kern="0" cap="none" spc="0" normalizeH="0" baseline="0" noProof="0" dirty="0">
                <a:ln>
                  <a:noFill/>
                </a:ln>
                <a:solidFill>
                  <a:srgbClr val="003367"/>
                </a:solidFill>
                <a:effectLst/>
                <a:uLnTx/>
                <a:uFillTx/>
                <a:latin typeface="Arial"/>
                <a:ea typeface="+mn-ea"/>
                <a:cs typeface="+mn-cs"/>
              </a:rPr>
              <a:t>Acronym from sub-system list</a:t>
            </a:r>
            <a:r>
              <a:rPr kumimoji="0" lang="en-US" sz="2000" b="0" i="0" u="none" strike="noStrike" kern="0" cap="none" spc="0" normalizeH="0" baseline="0" noProof="0" dirty="0">
                <a:ln>
                  <a:noFill/>
                </a:ln>
                <a:solidFill>
                  <a:srgbClr val="003367"/>
                </a:solidFill>
                <a:effectLst/>
                <a:uLnTx/>
                <a:uFillTx/>
                <a:latin typeface="Arial"/>
                <a:ea typeface="+mn-ea"/>
                <a:cs typeface="+mn-cs"/>
              </a:rPr>
              <a:t> and 01,02 etc. Use all CAPS </a:t>
            </a:r>
          </a:p>
          <a:p>
            <a:pPr marL="114300" marR="0" lvl="0" indent="-114300" algn="l" defTabSz="914400" rtl="0" eaLnBrk="0" fontAlgn="base" latinLnBrk="0" hangingPunct="0">
              <a:lnSpc>
                <a:spcPct val="100000"/>
              </a:lnSpc>
              <a:spcBef>
                <a:spcPct val="20000"/>
              </a:spcBef>
              <a:spcAft>
                <a:spcPct val="0"/>
              </a:spcAft>
              <a:buClrTx/>
              <a:buSzTx/>
              <a:buFontTx/>
              <a:buChar char="•"/>
              <a:tabLst/>
              <a:defRPr/>
            </a:pPr>
            <a:r>
              <a:rPr lang="en-US" sz="2000" kern="0" dirty="0">
                <a:solidFill>
                  <a:srgbClr val="003367"/>
                </a:solidFill>
                <a:latin typeface="Arial"/>
              </a:rPr>
              <a:t> </a:t>
            </a:r>
            <a:r>
              <a:rPr lang="en-US" sz="2000" b="1" kern="0" dirty="0">
                <a:solidFill>
                  <a:srgbClr val="FF0000"/>
                </a:solidFill>
                <a:latin typeface="Arial"/>
              </a:rPr>
              <a:t>Special Area </a:t>
            </a:r>
            <a:r>
              <a:rPr lang="en-US" sz="2000" kern="0" dirty="0">
                <a:solidFill>
                  <a:srgbClr val="003367"/>
                </a:solidFill>
                <a:latin typeface="Arial"/>
              </a:rPr>
              <a:t>list located in NAVFAC SE ICAP DESK GUIDE 2014.</a:t>
            </a:r>
            <a:endParaRPr kumimoji="0" lang="en-US" sz="2000" b="0" i="0" u="none" strike="noStrike" kern="0" cap="none" spc="0" normalizeH="0" baseline="0" noProof="0" dirty="0">
              <a:ln>
                <a:noFill/>
              </a:ln>
              <a:solidFill>
                <a:srgbClr val="003367"/>
              </a:solidFill>
              <a:effectLst/>
              <a:uLnTx/>
              <a:uFillTx/>
              <a:latin typeface="Arial"/>
              <a:ea typeface="+mn-ea"/>
              <a:cs typeface="+mn-cs"/>
            </a:endParaRPr>
          </a:p>
        </p:txBody>
      </p:sp>
    </p:spTree>
    <p:extLst>
      <p:ext uri="{BB962C8B-B14F-4D97-AF65-F5344CB8AC3E}">
        <p14:creationId xmlns:p14="http://schemas.microsoft.com/office/powerpoint/2010/main" val="1864146720"/>
      </p:ext>
    </p:extLst>
  </p:cSld>
  <p:clrMapOvr>
    <a:masterClrMapping/>
  </p:clrMapOvr>
  <p:transition>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Acronym List</a:t>
            </a:r>
          </a:p>
        </p:txBody>
      </p:sp>
      <p:sp>
        <p:nvSpPr>
          <p:cNvPr id="3" name="Content Placeholder 2"/>
          <p:cNvSpPr>
            <a:spLocks noGrp="1"/>
          </p:cNvSpPr>
          <p:nvPr>
            <p:ph idx="1"/>
          </p:nvPr>
        </p:nvSpPr>
        <p:spPr/>
        <p:txBody>
          <a:bodyPr/>
          <a:lstStyle/>
          <a:p>
            <a:r>
              <a:rPr lang="en-US" dirty="0"/>
              <a:t>  The list was created with multiple uses in mind. It standardizes: acronyms, asset descriptions, and to determine if the asset is Dynamic or Non-Dynamic. </a:t>
            </a:r>
          </a:p>
          <a:p>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1618354234"/>
              </p:ext>
            </p:extLst>
          </p:nvPr>
        </p:nvGraphicFramePr>
        <p:xfrm>
          <a:off x="861484" y="2365393"/>
          <a:ext cx="10788650" cy="3984354"/>
        </p:xfrm>
        <a:graphic>
          <a:graphicData uri="http://schemas.openxmlformats.org/drawingml/2006/table">
            <a:tbl>
              <a:tblPr/>
              <a:tblGrid>
                <a:gridCol w="2627494">
                  <a:extLst>
                    <a:ext uri="{9D8B030D-6E8A-4147-A177-3AD203B41FA5}">
                      <a16:colId xmlns:a16="http://schemas.microsoft.com/office/drawing/2014/main" val="2547790415"/>
                    </a:ext>
                  </a:extLst>
                </a:gridCol>
                <a:gridCol w="298579">
                  <a:extLst>
                    <a:ext uri="{9D8B030D-6E8A-4147-A177-3AD203B41FA5}">
                      <a16:colId xmlns:a16="http://schemas.microsoft.com/office/drawing/2014/main" val="1701380261"/>
                    </a:ext>
                  </a:extLst>
                </a:gridCol>
                <a:gridCol w="1463036">
                  <a:extLst>
                    <a:ext uri="{9D8B030D-6E8A-4147-A177-3AD203B41FA5}">
                      <a16:colId xmlns:a16="http://schemas.microsoft.com/office/drawing/2014/main" val="1515273209"/>
                    </a:ext>
                  </a:extLst>
                </a:gridCol>
                <a:gridCol w="3413752">
                  <a:extLst>
                    <a:ext uri="{9D8B030D-6E8A-4147-A177-3AD203B41FA5}">
                      <a16:colId xmlns:a16="http://schemas.microsoft.com/office/drawing/2014/main" val="1922704235"/>
                    </a:ext>
                  </a:extLst>
                </a:gridCol>
                <a:gridCol w="945500">
                  <a:extLst>
                    <a:ext uri="{9D8B030D-6E8A-4147-A177-3AD203B41FA5}">
                      <a16:colId xmlns:a16="http://schemas.microsoft.com/office/drawing/2014/main" val="618652324"/>
                    </a:ext>
                  </a:extLst>
                </a:gridCol>
                <a:gridCol w="2040289">
                  <a:extLst>
                    <a:ext uri="{9D8B030D-6E8A-4147-A177-3AD203B41FA5}">
                      <a16:colId xmlns:a16="http://schemas.microsoft.com/office/drawing/2014/main" val="3825842938"/>
                    </a:ext>
                  </a:extLst>
                </a:gridCol>
              </a:tblGrid>
              <a:tr h="92446">
                <a:tc>
                  <a:txBody>
                    <a:bodyPr/>
                    <a:lstStyle/>
                    <a:p>
                      <a:pPr algn="ctr" fontAlgn="ctr"/>
                      <a:r>
                        <a:rPr lang="en-US" sz="900" b="1" i="0" u="none" strike="noStrike">
                          <a:solidFill>
                            <a:srgbClr val="000000"/>
                          </a:solidFill>
                          <a:effectLst/>
                          <a:latin typeface="Calibri" panose="020F0502020204030204" pitchFamily="34" charset="0"/>
                        </a:rPr>
                        <a:t>SUBSYSTEM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l" fontAlgn="ctr"/>
                      <a:r>
                        <a:rPr lang="en-US" sz="900" b="1" i="0" u="none" strike="noStrike">
                          <a:solidFill>
                            <a:srgbClr val="000000"/>
                          </a:solidFill>
                          <a:effectLst/>
                          <a:latin typeface="Calibri" panose="020F0502020204030204" pitchFamily="34" charset="0"/>
                        </a:rPr>
                        <a:t>UOM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ctr"/>
                      <a:r>
                        <a:rPr lang="en-US" sz="900" b="1" i="0" u="none" strike="noStrike">
                          <a:solidFill>
                            <a:srgbClr val="000000"/>
                          </a:solidFill>
                          <a:effectLst/>
                          <a:latin typeface="Calibri" panose="020F0502020204030204" pitchFamily="34" charset="0"/>
                        </a:rPr>
                        <a:t>SUBSYSTEM - EXISTING/NEW</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ctr"/>
                      <a:r>
                        <a:rPr lang="en-US" sz="900" b="1" i="0" u="none" strike="noStrike" dirty="0">
                          <a:solidFill>
                            <a:srgbClr val="000000"/>
                          </a:solidFill>
                          <a:effectLst/>
                          <a:latin typeface="Calibri" panose="020F0502020204030204" pitchFamily="34" charset="0"/>
                        </a:rPr>
                        <a:t>MAXIMO DECRIPTION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b"/>
                      <a:r>
                        <a:rPr lang="en-US" sz="900" b="0" i="0" u="none" strike="noStrike">
                          <a:solidFill>
                            <a:srgbClr val="000000"/>
                          </a:solidFill>
                          <a:effectLst/>
                          <a:latin typeface="Calibri" panose="020F0502020204030204" pitchFamily="34" charset="0"/>
                        </a:rPr>
                        <a:t> 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l"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892377"/>
                  </a:ext>
                </a:extLst>
              </a:tr>
              <a:tr h="147969">
                <a:tc>
                  <a:txBody>
                    <a:bodyPr/>
                    <a:lstStyle/>
                    <a:p>
                      <a:pPr algn="ctr" fontAlgn="ctr"/>
                      <a:r>
                        <a:rPr lang="en-US" sz="900" b="1" i="0" u="none" strike="noStrike">
                          <a:solidFill>
                            <a:srgbClr val="000000"/>
                          </a:solidFill>
                          <a:effectLst/>
                          <a:latin typeface="Calibri" panose="020F0502020204030204" pitchFamily="34" charset="0"/>
                        </a:rPr>
                        <a:t>STANDARD FOUNDATIONS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fontAlgn="ctr"/>
                      <a:r>
                        <a:rPr lang="en-US" sz="900" b="1"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1"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1"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233829"/>
                  </a:ext>
                </a:extLst>
              </a:tr>
              <a:tr h="147969">
                <a:tc>
                  <a:txBody>
                    <a:bodyPr/>
                    <a:lstStyle/>
                    <a:p>
                      <a:pPr algn="l" fontAlgn="ctr"/>
                      <a:r>
                        <a:rPr lang="en-US" sz="900" b="0" i="0" u="none" strike="noStrike">
                          <a:solidFill>
                            <a:srgbClr val="000000"/>
                          </a:solidFill>
                          <a:effectLst/>
                          <a:latin typeface="Calibri" panose="020F0502020204030204" pitchFamily="34" charset="0"/>
                        </a:rPr>
                        <a:t>A1010105 - WALL FOUNDATIONS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SF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Arial" panose="020B0604020202020204" pitchFamily="34" charset="0"/>
                        </a:rPr>
                        <a:t>SWF</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b"/>
                      <a:r>
                        <a:rPr lang="en-US" sz="800" b="0" i="0" u="none" strike="noStrike">
                          <a:solidFill>
                            <a:srgbClr val="000000"/>
                          </a:solidFill>
                          <a:effectLst/>
                          <a:latin typeface="Arial" panose="020B0604020202020204" pitchFamily="34" charset="0"/>
                        </a:rPr>
                        <a:t>WALL FOUNDATIONS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9405068"/>
                  </a:ext>
                </a:extLst>
              </a:tr>
              <a:tr h="147969">
                <a:tc>
                  <a:txBody>
                    <a:bodyPr/>
                    <a:lstStyle/>
                    <a:p>
                      <a:pPr algn="l" fontAlgn="ctr"/>
                      <a:r>
                        <a:rPr lang="en-US" sz="900" b="0" i="0" u="none" strike="noStrike">
                          <a:solidFill>
                            <a:srgbClr val="000000"/>
                          </a:solidFill>
                          <a:effectLst/>
                          <a:latin typeface="Calibri" panose="020F0502020204030204" pitchFamily="34" charset="0"/>
                        </a:rPr>
                        <a:t>A1010110 - STRIP FOOTINGS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LF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SFF</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STRIP FOOTINGS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19637076"/>
                  </a:ext>
                </a:extLst>
              </a:tr>
              <a:tr h="147969">
                <a:tc>
                  <a:txBody>
                    <a:bodyPr/>
                    <a:lstStyle/>
                    <a:p>
                      <a:pPr algn="l" fontAlgn="ctr"/>
                      <a:r>
                        <a:rPr lang="en-US" sz="900" b="0" i="0" u="none" strike="noStrike">
                          <a:solidFill>
                            <a:srgbClr val="000000"/>
                          </a:solidFill>
                          <a:effectLst/>
                          <a:latin typeface="Calibri" panose="020F0502020204030204" pitchFamily="34" charset="0"/>
                        </a:rPr>
                        <a:t>A1010210 - SPREAD FOOTINGS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EA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FSF</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SPREAD FOOTINGS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1" i="0" u="none" strike="noStrike">
                          <a:solidFill>
                            <a:srgbClr val="000000"/>
                          </a:solidFill>
                          <a:effectLst/>
                          <a:latin typeface="Calibri" panose="020F0502020204030204" pitchFamily="34" charset="0"/>
                        </a:rPr>
                        <a:t>SYSTEM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extLst>
                  <a:ext uri="{0D108BD9-81ED-4DB2-BD59-A6C34878D82A}">
                    <a16:rowId xmlns:a16="http://schemas.microsoft.com/office/drawing/2014/main" val="3193257560"/>
                  </a:ext>
                </a:extLst>
              </a:tr>
              <a:tr h="147969">
                <a:tc>
                  <a:txBody>
                    <a:bodyPr/>
                    <a:lstStyle/>
                    <a:p>
                      <a:pPr algn="l" fontAlgn="ctr"/>
                      <a:r>
                        <a:rPr lang="en-US" sz="900" b="0" i="0" u="none" strike="noStrike">
                          <a:solidFill>
                            <a:srgbClr val="000000"/>
                          </a:solidFill>
                          <a:effectLst/>
                          <a:latin typeface="Calibri" panose="020F0502020204030204" pitchFamily="34" charset="0"/>
                        </a:rPr>
                        <a:t>A1010230 - COLUMN PIER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EA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Arial" panose="020B0604020202020204" pitchFamily="34" charset="0"/>
                        </a:rPr>
                        <a:t>SCC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b"/>
                      <a:r>
                        <a:rPr lang="en-US" sz="800" b="0" i="0" u="none" strike="noStrike">
                          <a:solidFill>
                            <a:srgbClr val="000000"/>
                          </a:solidFill>
                          <a:effectLst/>
                          <a:latin typeface="Arial" panose="020B0604020202020204" pitchFamily="34" charset="0"/>
                        </a:rPr>
                        <a:t> COLUMN PIER, COMCRETE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ORIGINAL SUB-SYSTEM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extLst>
                  <a:ext uri="{0D108BD9-81ED-4DB2-BD59-A6C34878D82A}">
                    <a16:rowId xmlns:a16="http://schemas.microsoft.com/office/drawing/2014/main" val="1800365589"/>
                  </a:ext>
                </a:extLst>
              </a:tr>
              <a:tr h="147969">
                <a:tc>
                  <a:txBody>
                    <a:bodyPr/>
                    <a:lstStyle/>
                    <a:p>
                      <a:pPr algn="l" fontAlgn="ctr"/>
                      <a:r>
                        <a:rPr lang="en-US" sz="900" b="0" i="0" u="none" strike="noStrike">
                          <a:solidFill>
                            <a:srgbClr val="000000"/>
                          </a:solidFill>
                          <a:effectLst/>
                          <a:latin typeface="Calibri" panose="020F0502020204030204" pitchFamily="34" charset="0"/>
                        </a:rPr>
                        <a:t>A1010230 - COLUMN PIER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EA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Arial" panose="020B0604020202020204" pitchFamily="34" charset="0"/>
                        </a:rPr>
                        <a:t>SCC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b"/>
                      <a:r>
                        <a:rPr lang="en-US" sz="800" b="0" i="0" u="none" strike="noStrike">
                          <a:solidFill>
                            <a:srgbClr val="000000"/>
                          </a:solidFill>
                          <a:effectLst/>
                          <a:latin typeface="Arial" panose="020B0604020202020204" pitchFamily="34" charset="0"/>
                        </a:rPr>
                        <a:t> COLUMN PIER, STEEL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NEW SUB-SYSTEM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extLst>
                  <a:ext uri="{0D108BD9-81ED-4DB2-BD59-A6C34878D82A}">
                    <a16:rowId xmlns:a16="http://schemas.microsoft.com/office/drawing/2014/main" val="1450081901"/>
                  </a:ext>
                </a:extLst>
              </a:tr>
              <a:tr h="147969">
                <a:tc>
                  <a:txBody>
                    <a:bodyPr/>
                    <a:lstStyle/>
                    <a:p>
                      <a:pPr algn="l" fontAlgn="ctr"/>
                      <a:r>
                        <a:rPr lang="en-US" sz="900" b="0" i="0" u="none" strike="noStrike">
                          <a:solidFill>
                            <a:srgbClr val="000000"/>
                          </a:solidFill>
                          <a:effectLst/>
                          <a:latin typeface="Calibri" panose="020F0502020204030204" pitchFamily="34" charset="0"/>
                        </a:rPr>
                        <a:t>A1010230 - COLUMN PIER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EA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Arial" panose="020B0604020202020204" pitchFamily="34" charset="0"/>
                        </a:rPr>
                        <a:t>SCW</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b"/>
                      <a:r>
                        <a:rPr lang="en-US" sz="800" b="0" i="0" u="none" strike="noStrike">
                          <a:solidFill>
                            <a:srgbClr val="000000"/>
                          </a:solidFill>
                          <a:effectLst/>
                          <a:latin typeface="Arial" panose="020B0604020202020204" pitchFamily="34" charset="0"/>
                        </a:rPr>
                        <a:t>COLUMN PIER, WOOD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9314201"/>
                  </a:ext>
                </a:extLst>
              </a:tr>
              <a:tr h="147969">
                <a:tc>
                  <a:txBody>
                    <a:bodyPr/>
                    <a:lstStyle/>
                    <a:p>
                      <a:pPr algn="l" fontAlgn="ctr"/>
                      <a:r>
                        <a:rPr lang="en-US" sz="900" b="0" i="0" u="none" strike="noStrike">
                          <a:solidFill>
                            <a:srgbClr val="000000"/>
                          </a:solidFill>
                          <a:effectLst/>
                          <a:latin typeface="Calibri" panose="020F0502020204030204" pitchFamily="34" charset="0"/>
                        </a:rPr>
                        <a:t>A1010250 - PILE CAPS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EA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FPC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 PILE CAPS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FF0000"/>
                          </a:solidFill>
                          <a:effectLst/>
                          <a:latin typeface="Calibri" panose="020F0502020204030204" pitchFamily="34" charset="0"/>
                        </a:rPr>
                        <a:t>DESCRIPTIONS LOCATION EXAMPLES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3017021"/>
                  </a:ext>
                </a:extLst>
              </a:tr>
              <a:tr h="147969">
                <a:tc>
                  <a:txBody>
                    <a:bodyPr/>
                    <a:lstStyle/>
                    <a:p>
                      <a:pPr algn="l" fontAlgn="ctr"/>
                      <a:r>
                        <a:rPr lang="en-US" sz="900" b="0" i="0" u="none" strike="noStrike">
                          <a:solidFill>
                            <a:srgbClr val="000000"/>
                          </a:solidFill>
                          <a:effectLst/>
                          <a:latin typeface="Calibri" panose="020F0502020204030204" pitchFamily="34" charset="0"/>
                        </a:rPr>
                        <a:t>A1010999 - OTHER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EA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FND</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FF0000"/>
                          </a:solidFill>
                          <a:effectLst/>
                          <a:latin typeface="Calibri" panose="020F0502020204030204" pitchFamily="34" charset="0"/>
                        </a:rPr>
                        <a:t>NORTH, SOUTH, EAST, WEST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5667699"/>
                  </a:ext>
                </a:extLst>
              </a:tr>
              <a:tr h="147969">
                <a:tc>
                  <a:txBody>
                    <a:bodyPr/>
                    <a:lstStyle/>
                    <a:p>
                      <a:pPr algn="ctr" fontAlgn="ctr"/>
                      <a:r>
                        <a:rPr lang="en-US" sz="900" b="1" i="0" u="none" strike="noStrike">
                          <a:solidFill>
                            <a:srgbClr val="000000"/>
                          </a:solidFill>
                          <a:effectLst/>
                          <a:latin typeface="Calibri" panose="020F0502020204030204" pitchFamily="34" charset="0"/>
                        </a:rPr>
                        <a:t>SPECIAL FOUNDATIONS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FF0000"/>
                          </a:solidFill>
                          <a:effectLst/>
                          <a:latin typeface="Calibri" panose="020F0502020204030204" pitchFamily="34" charset="0"/>
                        </a:rPr>
                        <a:t>BUILDINGWIDE, 1FL, 2FL, RM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5456059"/>
                  </a:ext>
                </a:extLst>
              </a:tr>
              <a:tr h="147969">
                <a:tc>
                  <a:txBody>
                    <a:bodyPr/>
                    <a:lstStyle/>
                    <a:p>
                      <a:pPr algn="l" fontAlgn="ctr"/>
                      <a:r>
                        <a:rPr lang="en-US" sz="900" b="0" i="0" u="none" strike="noStrike">
                          <a:solidFill>
                            <a:srgbClr val="000000"/>
                          </a:solidFill>
                          <a:effectLst/>
                          <a:latin typeface="Calibri" panose="020F0502020204030204" pitchFamily="34" charset="0"/>
                        </a:rPr>
                        <a:t>A1020005 - RAFT FOUNDATIONS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CY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SRF</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RAFT FOUNDATIONS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7892116"/>
                  </a:ext>
                </a:extLst>
              </a:tr>
              <a:tr h="147969">
                <a:tc>
                  <a:txBody>
                    <a:bodyPr/>
                    <a:lstStyle/>
                    <a:p>
                      <a:pPr algn="l" fontAlgn="ctr"/>
                      <a:r>
                        <a:rPr lang="en-US" sz="900" b="0" i="0" u="none" strike="noStrike">
                          <a:solidFill>
                            <a:srgbClr val="000000"/>
                          </a:solidFill>
                          <a:effectLst/>
                          <a:latin typeface="Calibri" panose="020F0502020204030204" pitchFamily="34" charset="0"/>
                        </a:rPr>
                        <a:t>A1020110 - CIP CONCRETE PILES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EA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SCP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CIP CONCRETE PILES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FF0000"/>
                          </a:solidFill>
                          <a:effectLst/>
                          <a:latin typeface="Calibri" panose="020F0502020204030204" pitchFamily="34" charset="0"/>
                        </a:rPr>
                        <a:t>DESCRIPTION UNIT OF MEASURE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6612571"/>
                  </a:ext>
                </a:extLst>
              </a:tr>
              <a:tr h="147969">
                <a:tc>
                  <a:txBody>
                    <a:bodyPr/>
                    <a:lstStyle/>
                    <a:p>
                      <a:pPr algn="l" fontAlgn="ctr"/>
                      <a:r>
                        <a:rPr lang="en-US" sz="900" b="0" i="0" u="none" strike="noStrike">
                          <a:solidFill>
                            <a:srgbClr val="000000"/>
                          </a:solidFill>
                          <a:effectLst/>
                          <a:latin typeface="Calibri" panose="020F0502020204030204" pitchFamily="34" charset="0"/>
                        </a:rPr>
                        <a:t>A1020120 - PRECAST CONCRETE PILES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EA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PCP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PRECAST CONCRETE PILES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FF0000"/>
                          </a:solidFill>
                          <a:effectLst/>
                          <a:latin typeface="Calibri" panose="020F0502020204030204" pitchFamily="34" charset="0"/>
                        </a:rPr>
                        <a:t>MBH = THOUSANT BTU'S PER HOUR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5269302"/>
                  </a:ext>
                </a:extLst>
              </a:tr>
              <a:tr h="147969">
                <a:tc>
                  <a:txBody>
                    <a:bodyPr/>
                    <a:lstStyle/>
                    <a:p>
                      <a:pPr algn="l" fontAlgn="ctr"/>
                      <a:r>
                        <a:rPr lang="en-US" sz="900" b="0" i="0" u="none" strike="noStrike">
                          <a:solidFill>
                            <a:srgbClr val="000000"/>
                          </a:solidFill>
                          <a:effectLst/>
                          <a:latin typeface="Calibri" panose="020F0502020204030204" pitchFamily="34" charset="0"/>
                        </a:rPr>
                        <a:t>A1020130 - STEEL PIPE PILES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EA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SPP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STEEL PIPE PILES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FF0000"/>
                          </a:solidFill>
                          <a:effectLst/>
                          <a:latin typeface="Calibri" panose="020F0502020204030204" pitchFamily="34" charset="0"/>
                        </a:rPr>
                        <a:t>BTU = BRITISH THEMAL UNIT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659384"/>
                  </a:ext>
                </a:extLst>
              </a:tr>
              <a:tr h="147969">
                <a:tc>
                  <a:txBody>
                    <a:bodyPr/>
                    <a:lstStyle/>
                    <a:p>
                      <a:pPr algn="l" fontAlgn="ctr"/>
                      <a:r>
                        <a:rPr lang="en-US" sz="900" b="0" i="0" u="none" strike="noStrike">
                          <a:solidFill>
                            <a:srgbClr val="000000"/>
                          </a:solidFill>
                          <a:effectLst/>
                          <a:latin typeface="Calibri" panose="020F0502020204030204" pitchFamily="34" charset="0"/>
                        </a:rPr>
                        <a:t>A1020140 - STEEL H PILES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EA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SHP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STEEL H PILES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FF0000"/>
                          </a:solidFill>
                          <a:effectLst/>
                          <a:latin typeface="Calibri" panose="020F0502020204030204" pitchFamily="34" charset="0"/>
                        </a:rPr>
                        <a:t>GAL = GALLONS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133284"/>
                  </a:ext>
                </a:extLst>
              </a:tr>
              <a:tr h="147969">
                <a:tc>
                  <a:txBody>
                    <a:bodyPr/>
                    <a:lstStyle/>
                    <a:p>
                      <a:pPr algn="l" fontAlgn="ctr"/>
                      <a:r>
                        <a:rPr lang="en-US" sz="900" b="0" i="0" u="none" strike="noStrike">
                          <a:solidFill>
                            <a:srgbClr val="000000"/>
                          </a:solidFill>
                          <a:effectLst/>
                          <a:latin typeface="Calibri" panose="020F0502020204030204" pitchFamily="34" charset="0"/>
                        </a:rPr>
                        <a:t>A1020160 - TREATED WOOD PILES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EA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TWP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TREATED WOOD PILES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FF0000"/>
                          </a:solidFill>
                          <a:effectLst/>
                          <a:latin typeface="Calibri" panose="020F0502020204030204" pitchFamily="34" charset="0"/>
                        </a:rPr>
                        <a:t>AMP = AMPERE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35826341"/>
                  </a:ext>
                </a:extLst>
              </a:tr>
              <a:tr h="147969">
                <a:tc>
                  <a:txBody>
                    <a:bodyPr/>
                    <a:lstStyle/>
                    <a:p>
                      <a:pPr algn="l" fontAlgn="ctr"/>
                      <a:r>
                        <a:rPr lang="en-US" sz="900" b="0" i="0" u="none" strike="noStrike">
                          <a:solidFill>
                            <a:srgbClr val="000000"/>
                          </a:solidFill>
                          <a:effectLst/>
                          <a:latin typeface="Calibri" panose="020F0502020204030204" pitchFamily="34" charset="0"/>
                        </a:rPr>
                        <a:t>A1020210 - GRADE BEAMS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LF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FGB</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GRADE BEAMS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FF0000"/>
                          </a:solidFill>
                          <a:effectLst/>
                          <a:latin typeface="Calibri" panose="020F0502020204030204" pitchFamily="34" charset="0"/>
                        </a:rPr>
                        <a:t>HP = HORSEPOWER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59295339"/>
                  </a:ext>
                </a:extLst>
              </a:tr>
              <a:tr h="147969">
                <a:tc>
                  <a:txBody>
                    <a:bodyPr/>
                    <a:lstStyle/>
                    <a:p>
                      <a:pPr algn="l" fontAlgn="ctr"/>
                      <a:r>
                        <a:rPr lang="en-US" sz="900" b="0" i="0" u="none" strike="noStrike">
                          <a:solidFill>
                            <a:srgbClr val="000000"/>
                          </a:solidFill>
                          <a:effectLst/>
                          <a:latin typeface="Calibri" panose="020F0502020204030204" pitchFamily="34" charset="0"/>
                        </a:rPr>
                        <a:t>A1020810 - CONCRETE EQUIPMENT FOUNDATION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SF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800" b="0" i="0" u="none" strike="noStrike">
                          <a:solidFill>
                            <a:srgbClr val="000000"/>
                          </a:solidFill>
                          <a:effectLst/>
                          <a:latin typeface="Arial" panose="020B0604020202020204" pitchFamily="34" charset="0"/>
                        </a:rPr>
                        <a:t>SCT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b"/>
                      <a:r>
                        <a:rPr lang="en-US" sz="800" b="0" i="0" u="none" strike="noStrike">
                          <a:solidFill>
                            <a:srgbClr val="000000"/>
                          </a:solidFill>
                          <a:effectLst/>
                          <a:latin typeface="Arial" panose="020B0604020202020204" pitchFamily="34" charset="0"/>
                        </a:rPr>
                        <a:t> CONCRETE EQUIPMENT FOUNDATION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4D79B"/>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FF0000"/>
                          </a:solidFill>
                          <a:effectLst/>
                          <a:latin typeface="Calibri" panose="020F0502020204030204" pitchFamily="34" charset="0"/>
                        </a:rPr>
                        <a:t>KVA = 1,000 VOLT AMPS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5886238"/>
                  </a:ext>
                </a:extLst>
              </a:tr>
              <a:tr h="147969">
                <a:tc>
                  <a:txBody>
                    <a:bodyPr/>
                    <a:lstStyle/>
                    <a:p>
                      <a:pPr algn="l" fontAlgn="ctr"/>
                      <a:r>
                        <a:rPr lang="en-US" sz="900" b="0" i="0" u="none" strike="noStrike">
                          <a:solidFill>
                            <a:srgbClr val="000000"/>
                          </a:solidFill>
                          <a:effectLst/>
                          <a:latin typeface="Calibri" panose="020F0502020204030204" pitchFamily="34" charset="0"/>
                        </a:rPr>
                        <a:t>A1020999 - OTHER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EA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SFO</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SPECIAL FOUNDATION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8192214"/>
                  </a:ext>
                </a:extLst>
              </a:tr>
              <a:tr h="147969">
                <a:tc>
                  <a:txBody>
                    <a:bodyPr/>
                    <a:lstStyle/>
                    <a:p>
                      <a:pPr algn="ctr" fontAlgn="ctr"/>
                      <a:r>
                        <a:rPr lang="en-US" sz="900" b="1" i="0" u="none" strike="noStrike">
                          <a:solidFill>
                            <a:srgbClr val="000000"/>
                          </a:solidFill>
                          <a:effectLst/>
                          <a:latin typeface="Calibri" panose="020F0502020204030204" pitchFamily="34" charset="0"/>
                        </a:rPr>
                        <a:t>SLAB ON GRADE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8639994"/>
                  </a:ext>
                </a:extLst>
              </a:tr>
              <a:tr h="147969">
                <a:tc>
                  <a:txBody>
                    <a:bodyPr/>
                    <a:lstStyle/>
                    <a:p>
                      <a:pPr algn="l" fontAlgn="ctr"/>
                      <a:r>
                        <a:rPr lang="en-US" sz="900" b="0" i="0" u="none" strike="noStrike">
                          <a:solidFill>
                            <a:srgbClr val="000000"/>
                          </a:solidFill>
                          <a:effectLst/>
                          <a:latin typeface="Calibri" panose="020F0502020204030204" pitchFamily="34" charset="0"/>
                        </a:rPr>
                        <a:t>A1030120 - PLAIN/REINFORCED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SF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PRS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PLAIN/REINFORCED 6" SLAB DEPTH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1247866"/>
                  </a:ext>
                </a:extLst>
              </a:tr>
              <a:tr h="147969">
                <a:tc>
                  <a:txBody>
                    <a:bodyPr/>
                    <a:lstStyle/>
                    <a:p>
                      <a:pPr algn="l" fontAlgn="ctr"/>
                      <a:r>
                        <a:rPr lang="en-US" sz="900" b="0" i="0" u="none" strike="noStrike">
                          <a:solidFill>
                            <a:srgbClr val="000000"/>
                          </a:solidFill>
                          <a:effectLst/>
                          <a:latin typeface="Calibri" panose="020F0502020204030204" pitchFamily="34" charset="0"/>
                        </a:rPr>
                        <a:t>A1030999 - OTHER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SF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SOG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92284998"/>
                  </a:ext>
                </a:extLst>
              </a:tr>
              <a:tr h="147969">
                <a:tc>
                  <a:txBody>
                    <a:bodyPr/>
                    <a:lstStyle/>
                    <a:p>
                      <a:pPr algn="ctr" fontAlgn="ctr"/>
                      <a:r>
                        <a:rPr lang="en-US" sz="900" b="1" i="0" u="none" strike="noStrike">
                          <a:solidFill>
                            <a:srgbClr val="000000"/>
                          </a:solidFill>
                          <a:effectLst/>
                          <a:latin typeface="Calibri" panose="020F0502020204030204" pitchFamily="34" charset="0"/>
                        </a:rPr>
                        <a:t>BASEMENT CONSTRUCTION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D9F1"/>
                    </a:solidFill>
                  </a:tcPr>
                </a:tc>
                <a:tc>
                  <a:txBody>
                    <a:bodyPr/>
                    <a:lstStyle/>
                    <a:p>
                      <a:pPr algn="l" fontAlgn="ctr"/>
                      <a:r>
                        <a:rPr lang="en-US" sz="9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510369"/>
                  </a:ext>
                </a:extLst>
              </a:tr>
              <a:tr h="147969">
                <a:tc>
                  <a:txBody>
                    <a:bodyPr/>
                    <a:lstStyle/>
                    <a:p>
                      <a:pPr algn="l" fontAlgn="b"/>
                      <a:r>
                        <a:rPr lang="en-US" sz="900" b="0" i="0" u="none" strike="noStrike">
                          <a:solidFill>
                            <a:srgbClr val="000000"/>
                          </a:solidFill>
                          <a:effectLst/>
                          <a:latin typeface="Calibri" panose="020F0502020204030204" pitchFamily="34" charset="0"/>
                        </a:rPr>
                        <a:t>A2010999 - OTHER BASEMENT EXCAVATION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a:solidFill>
                            <a:srgbClr val="000000"/>
                          </a:solidFill>
                          <a:effectLst/>
                          <a:latin typeface="Calibri" panose="020F0502020204030204" pitchFamily="34" charset="0"/>
                        </a:rPr>
                        <a:t>CY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BCE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 OTHER BASEMENT EXCAVATION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5466085"/>
                  </a:ext>
                </a:extLst>
              </a:tr>
              <a:tr h="147969">
                <a:tc>
                  <a:txBody>
                    <a:bodyPr/>
                    <a:lstStyle/>
                    <a:p>
                      <a:pPr algn="l" fontAlgn="ctr"/>
                      <a:r>
                        <a:rPr lang="en-US" sz="900" b="0" i="0" u="none" strike="noStrike">
                          <a:solidFill>
                            <a:srgbClr val="000000"/>
                          </a:solidFill>
                          <a:effectLst/>
                          <a:latin typeface="Calibri" panose="020F0502020204030204" pitchFamily="34" charset="0"/>
                        </a:rPr>
                        <a:t>A2020110 - CIP CONCRETE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LF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BWC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CIP CONCRETE, FOUNDATION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3255205"/>
                  </a:ext>
                </a:extLst>
              </a:tr>
              <a:tr h="147969">
                <a:tc>
                  <a:txBody>
                    <a:bodyPr/>
                    <a:lstStyle/>
                    <a:p>
                      <a:pPr algn="l" fontAlgn="b"/>
                      <a:r>
                        <a:rPr lang="en-US" sz="900" b="0" i="0" u="none" strike="noStrike">
                          <a:solidFill>
                            <a:srgbClr val="000000"/>
                          </a:solidFill>
                          <a:effectLst/>
                          <a:latin typeface="Calibri" panose="020F0502020204030204" pitchFamily="34" charset="0"/>
                        </a:rPr>
                        <a:t>A2020140 - CONCRETE BLOCK</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a:solidFill>
                            <a:srgbClr val="000000"/>
                          </a:solidFill>
                          <a:effectLst/>
                          <a:latin typeface="Calibri" panose="020F0502020204030204" pitchFamily="34" charset="0"/>
                        </a:rPr>
                        <a:t>LF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Calibri" panose="020F0502020204030204" pitchFamily="34" charset="0"/>
                        </a:rPr>
                        <a:t>BWB</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CONCRETE BLOCK, BASEMENT WALL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9D9"/>
                    </a:solidFill>
                  </a:tcPr>
                </a:tc>
                <a:tc>
                  <a:txBody>
                    <a:bodyPr/>
                    <a:lstStyle/>
                    <a:p>
                      <a:pPr algn="ctr" fontAlgn="b"/>
                      <a:r>
                        <a:rPr lang="en-US" sz="900" b="0" i="0" u="none" strike="noStrike">
                          <a:solidFill>
                            <a:srgbClr val="000000"/>
                          </a:solidFill>
                          <a:effectLst/>
                          <a:latin typeface="Calibri" panose="020F0502020204030204" pitchFamily="34" charset="0"/>
                        </a:rPr>
                        <a:t>NON-DYNAMIC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29478542"/>
                  </a:ext>
                </a:extLst>
              </a:tr>
            </a:tbl>
          </a:graphicData>
        </a:graphic>
      </p:graphicFrame>
    </p:spTree>
    <p:extLst>
      <p:ext uri="{BB962C8B-B14F-4D97-AF65-F5344CB8AC3E}">
        <p14:creationId xmlns:p14="http://schemas.microsoft.com/office/powerpoint/2010/main" val="899797831"/>
      </p:ext>
    </p:extLst>
  </p:cSld>
  <p:clrMapOvr>
    <a:masterClrMapping/>
  </p:clrMapOvr>
  <p:transition>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Essential information required for assets in MAXIMO cont.</a:t>
            </a:r>
          </a:p>
        </p:txBody>
      </p:sp>
      <p:sp>
        <p:nvSpPr>
          <p:cNvPr id="3" name="Content Placeholder 2"/>
          <p:cNvSpPr>
            <a:spLocks noGrp="1"/>
          </p:cNvSpPr>
          <p:nvPr>
            <p:ph idx="1"/>
          </p:nvPr>
        </p:nvSpPr>
        <p:spPr>
          <a:xfrm>
            <a:off x="861485" y="1182532"/>
            <a:ext cx="10788649" cy="4980143"/>
          </a:xfrm>
        </p:spPr>
        <p:txBody>
          <a:bodyPr/>
          <a:lstStyle/>
          <a:p>
            <a:pPr marL="0" indent="0">
              <a:buNone/>
            </a:pPr>
            <a:r>
              <a:rPr lang="en-US" sz="2800" b="1" dirty="0"/>
              <a:t>Inventory Categories </a:t>
            </a:r>
          </a:p>
          <a:p>
            <a:r>
              <a:rPr lang="en-US" dirty="0"/>
              <a:t>A </a:t>
            </a:r>
            <a:r>
              <a:rPr lang="en-US" b="1" dirty="0"/>
              <a:t>Component Inventory Management Unit (CIMU) </a:t>
            </a:r>
            <a:r>
              <a:rPr lang="en-US" sz="1600" dirty="0"/>
              <a:t>contains a large non-dynamic component (e.g. 50,000 </a:t>
            </a:r>
            <a:r>
              <a:rPr lang="en-US" sz="1600" dirty="0" err="1"/>
              <a:t>sqft</a:t>
            </a:r>
            <a:r>
              <a:rPr lang="en-US" sz="1600" dirty="0"/>
              <a:t> of floor covering or 200 ea. lighting fixtures) </a:t>
            </a:r>
            <a:r>
              <a:rPr lang="en-US" sz="1600" b="1" i="1" dirty="0"/>
              <a:t>OR </a:t>
            </a:r>
            <a:r>
              <a:rPr lang="en-US" sz="1600" dirty="0"/>
              <a:t>is a group of dynamic equipment (e.g. 6 ea. air handling units) that share the same UNIFORMAT classification, was installed at approximately the same time, and can be expected to follow a similar life cycle degradation. A CIMU is the consolidation of similar components/equipment into a single management unit. </a:t>
            </a:r>
          </a:p>
          <a:p>
            <a:pPr marL="0" indent="0">
              <a:buNone/>
            </a:pPr>
            <a:endParaRPr lang="en-US" sz="1600" dirty="0"/>
          </a:p>
          <a:p>
            <a:r>
              <a:rPr lang="en-US" dirty="0"/>
              <a:t>A </a:t>
            </a:r>
            <a:r>
              <a:rPr lang="en-US" b="1" dirty="0"/>
              <a:t>Real Property Installed Equipment (RPIE)</a:t>
            </a:r>
            <a:r>
              <a:rPr lang="en-US" sz="1600" b="1" dirty="0"/>
              <a:t> </a:t>
            </a:r>
            <a:r>
              <a:rPr lang="en-US" sz="1600" dirty="0"/>
              <a:t>is an item of equipment that is affixed and built into a facility as an integral part of that facility. To qualify as RPIE, the equipment must be necessary to make the facility complete, and if removed, would destroy or severely reduce the designed usefulness and operation of the facility. RPIE included such items as control systems, heating, cooling, electrical, emergency lighting, etc. Individual pieces of like equipment (RPIE) are grouped into CIMUs. Condition is managed at the CIMU level, not at the RPIE level. </a:t>
            </a:r>
          </a:p>
          <a:p>
            <a:endParaRPr lang="en-US" sz="1600" dirty="0"/>
          </a:p>
          <a:p>
            <a:r>
              <a:rPr lang="en-US" b="1" dirty="0"/>
              <a:t>BOTH </a:t>
            </a:r>
            <a:r>
              <a:rPr lang="en-US" sz="1600" dirty="0"/>
              <a:t>is a single, stand-alone piece of equipment (RPIE) that is managed independently and therefore is both a CIMU and an RPIE. Typical examples are larger, more expensive RPIE with longer design lives such as chillers, boilers, elevators, etc. </a:t>
            </a:r>
          </a:p>
        </p:txBody>
      </p:sp>
    </p:spTree>
    <p:extLst>
      <p:ext uri="{BB962C8B-B14F-4D97-AF65-F5344CB8AC3E}">
        <p14:creationId xmlns:p14="http://schemas.microsoft.com/office/powerpoint/2010/main" val="2521976476"/>
      </p:ext>
    </p:extLst>
  </p:cSld>
  <p:clrMapOvr>
    <a:masterClrMapping/>
  </p:clrMapOvr>
  <p:transition>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9808" y="203776"/>
            <a:ext cx="9332383" cy="835025"/>
          </a:xfrm>
        </p:spPr>
        <p:txBody>
          <a:bodyPr/>
          <a:lstStyle/>
          <a:p>
            <a:r>
              <a:rPr lang="en-US" sz="2800" dirty="0"/>
              <a:t>Essential information required for assets in MAXIMO cont.</a:t>
            </a:r>
          </a:p>
        </p:txBody>
      </p:sp>
      <p:pic>
        <p:nvPicPr>
          <p:cNvPr id="5" name="Content Placeholder 4"/>
          <p:cNvPicPr>
            <a:picLocks noGrp="1" noChangeAspect="1"/>
          </p:cNvPicPr>
          <p:nvPr>
            <p:ph idx="1"/>
          </p:nvPr>
        </p:nvPicPr>
        <p:blipFill>
          <a:blip r:embed="rId2"/>
          <a:stretch>
            <a:fillRect/>
          </a:stretch>
        </p:blipFill>
        <p:spPr>
          <a:xfrm>
            <a:off x="4169770" y="2034250"/>
            <a:ext cx="7963382" cy="2789499"/>
          </a:xfrm>
          <a:prstGeom prst="rect">
            <a:avLst/>
          </a:prstGeom>
        </p:spPr>
      </p:pic>
      <p:pic>
        <p:nvPicPr>
          <p:cNvPr id="13" name="Picture 12"/>
          <p:cNvPicPr>
            <a:picLocks noChangeAspect="1"/>
          </p:cNvPicPr>
          <p:nvPr/>
        </p:nvPicPr>
        <p:blipFill>
          <a:blip r:embed="rId3"/>
          <a:stretch>
            <a:fillRect/>
          </a:stretch>
        </p:blipFill>
        <p:spPr>
          <a:xfrm>
            <a:off x="8752292" y="5366309"/>
            <a:ext cx="3032567" cy="914400"/>
          </a:xfrm>
          <a:prstGeom prst="rect">
            <a:avLst/>
          </a:prstGeom>
        </p:spPr>
      </p:pic>
      <p:pic>
        <p:nvPicPr>
          <p:cNvPr id="14" name="Picture 13"/>
          <p:cNvPicPr>
            <a:picLocks noChangeAspect="1"/>
          </p:cNvPicPr>
          <p:nvPr/>
        </p:nvPicPr>
        <p:blipFill>
          <a:blip r:embed="rId4"/>
          <a:stretch>
            <a:fillRect/>
          </a:stretch>
        </p:blipFill>
        <p:spPr>
          <a:xfrm>
            <a:off x="4655907" y="5464694"/>
            <a:ext cx="3495554" cy="816015"/>
          </a:xfrm>
          <a:prstGeom prst="rect">
            <a:avLst/>
          </a:prstGeom>
        </p:spPr>
      </p:pic>
      <p:sp>
        <p:nvSpPr>
          <p:cNvPr id="4" name="TextBox 3">
            <a:extLst>
              <a:ext uri="{FF2B5EF4-FFF2-40B4-BE49-F238E27FC236}">
                <a16:creationId xmlns:a16="http://schemas.microsoft.com/office/drawing/2014/main" id="{1686D99B-0EC1-F779-A209-1C56F626CB90}"/>
              </a:ext>
            </a:extLst>
          </p:cNvPr>
          <p:cNvSpPr txBox="1"/>
          <p:nvPr/>
        </p:nvSpPr>
        <p:spPr>
          <a:xfrm>
            <a:off x="58848" y="1565502"/>
            <a:ext cx="4802737" cy="3416320"/>
          </a:xfrm>
          <a:prstGeom prst="rect">
            <a:avLst/>
          </a:prstGeom>
          <a:noFill/>
        </p:spPr>
        <p:txBody>
          <a:bodyPr wrap="square">
            <a:spAutoFit/>
          </a:bodyPr>
          <a:lstStyle/>
          <a:p>
            <a:pPr marR="0" lvl="0" algn="l" defTabSz="914400" rtl="0" eaLnBrk="0" fontAlgn="base" latinLnBrk="0" hangingPunct="0">
              <a:lnSpc>
                <a:spcPct val="100000"/>
              </a:lnSpc>
              <a:spcBef>
                <a:spcPct val="20000"/>
              </a:spcBef>
              <a:spcAft>
                <a:spcPct val="0"/>
              </a:spcAft>
              <a:buClrTx/>
              <a:buSzTx/>
              <a:tabLst/>
              <a:defRPr/>
            </a:pPr>
            <a:endParaRPr kumimoji="0" lang="en-US" sz="2400" b="0" i="0" u="none" strike="noStrike" kern="0" cap="none" spc="0" normalizeH="0" baseline="0" noProof="0" dirty="0">
              <a:ln>
                <a:noFill/>
              </a:ln>
              <a:solidFill>
                <a:srgbClr val="003367"/>
              </a:solidFill>
              <a:effectLst/>
              <a:uLnTx/>
              <a:uFillTx/>
              <a:latin typeface="Arial"/>
              <a:ea typeface="+mn-ea"/>
              <a:cs typeface="+mn-cs"/>
            </a:endParaRPr>
          </a:p>
          <a:p>
            <a:pPr marL="114300" marR="0" lvl="0" indent="-114300" algn="l" defTabSz="914400" rtl="0" eaLnBrk="0" fontAlgn="base" latinLnBrk="0" hangingPunct="0">
              <a:lnSpc>
                <a:spcPct val="100000"/>
              </a:lnSpc>
              <a:spcBef>
                <a:spcPct val="20000"/>
              </a:spcBef>
              <a:spcAft>
                <a:spcPct val="0"/>
              </a:spcAft>
              <a:buClrTx/>
              <a:buSzTx/>
              <a:buFontTx/>
              <a:buChar char="•"/>
              <a:tabLst/>
              <a:defRPr/>
            </a:pPr>
            <a:r>
              <a:rPr kumimoji="0" lang="en-US" sz="2000" b="0" i="0" u="none" strike="noStrike" kern="0" cap="none" spc="0" normalizeH="0" baseline="0" noProof="0" dirty="0">
                <a:ln>
                  <a:noFill/>
                </a:ln>
                <a:solidFill>
                  <a:srgbClr val="003367"/>
                </a:solidFill>
                <a:effectLst/>
                <a:uLnTx/>
                <a:uFillTx/>
                <a:latin typeface="Arial"/>
                <a:ea typeface="+mn-ea"/>
                <a:cs typeface="+mn-cs"/>
              </a:rPr>
              <a:t>A </a:t>
            </a:r>
            <a:r>
              <a:rPr kumimoji="0" lang="en-US" sz="2000" b="1" i="0" u="none" strike="noStrike" kern="0" cap="none" spc="0" normalizeH="0" baseline="0" noProof="0" dirty="0">
                <a:ln>
                  <a:noFill/>
                </a:ln>
                <a:solidFill>
                  <a:srgbClr val="003367"/>
                </a:solidFill>
                <a:effectLst/>
                <a:uLnTx/>
                <a:uFillTx/>
                <a:latin typeface="Arial"/>
                <a:ea typeface="+mn-ea"/>
                <a:cs typeface="+mn-cs"/>
              </a:rPr>
              <a:t>Component Inventory Management Unit (CIMU) </a:t>
            </a:r>
            <a:r>
              <a:rPr kumimoji="0" lang="en-US" sz="1600" b="0" i="0" u="none" strike="noStrike" kern="0" cap="none" spc="0" normalizeH="0" baseline="0" noProof="0" dirty="0">
                <a:ln>
                  <a:noFill/>
                </a:ln>
                <a:solidFill>
                  <a:srgbClr val="003367"/>
                </a:solidFill>
                <a:effectLst/>
                <a:uLnTx/>
                <a:uFillTx/>
                <a:latin typeface="Arial"/>
                <a:ea typeface="+mn-ea"/>
                <a:cs typeface="+mn-cs"/>
              </a:rPr>
              <a:t>contains a large non-dynamic component (e.g. 50,000 </a:t>
            </a:r>
            <a:r>
              <a:rPr kumimoji="0" lang="en-US" sz="1600" b="0" i="0" u="none" strike="noStrike" kern="0" cap="none" spc="0" normalizeH="0" baseline="0" noProof="0" dirty="0" err="1">
                <a:ln>
                  <a:noFill/>
                </a:ln>
                <a:solidFill>
                  <a:srgbClr val="003367"/>
                </a:solidFill>
                <a:effectLst/>
                <a:uLnTx/>
                <a:uFillTx/>
                <a:latin typeface="Arial"/>
                <a:ea typeface="+mn-ea"/>
                <a:cs typeface="+mn-cs"/>
              </a:rPr>
              <a:t>sqft</a:t>
            </a:r>
            <a:r>
              <a:rPr kumimoji="0" lang="en-US" sz="1600" b="0" i="0" u="none" strike="noStrike" kern="0" cap="none" spc="0" normalizeH="0" baseline="0" noProof="0" dirty="0">
                <a:ln>
                  <a:noFill/>
                </a:ln>
                <a:solidFill>
                  <a:srgbClr val="003367"/>
                </a:solidFill>
                <a:effectLst/>
                <a:uLnTx/>
                <a:uFillTx/>
                <a:latin typeface="Arial"/>
                <a:ea typeface="+mn-ea"/>
                <a:cs typeface="+mn-cs"/>
              </a:rPr>
              <a:t> of floor covering or 200 ea. lighting fixtures) </a:t>
            </a:r>
            <a:r>
              <a:rPr kumimoji="0" lang="en-US" sz="1600" b="1" i="1" u="none" strike="noStrike" kern="0" cap="none" spc="0" normalizeH="0" baseline="0" noProof="0" dirty="0">
                <a:ln>
                  <a:noFill/>
                </a:ln>
                <a:solidFill>
                  <a:srgbClr val="003367"/>
                </a:solidFill>
                <a:effectLst/>
                <a:uLnTx/>
                <a:uFillTx/>
                <a:latin typeface="Arial"/>
                <a:ea typeface="+mn-ea"/>
                <a:cs typeface="+mn-cs"/>
              </a:rPr>
              <a:t>OR </a:t>
            </a:r>
            <a:r>
              <a:rPr kumimoji="0" lang="en-US" sz="1600" b="0" i="0" u="none" strike="noStrike" kern="0" cap="none" spc="0" normalizeH="0" baseline="0" noProof="0" dirty="0">
                <a:ln>
                  <a:noFill/>
                </a:ln>
                <a:solidFill>
                  <a:srgbClr val="003367"/>
                </a:solidFill>
                <a:effectLst/>
                <a:uLnTx/>
                <a:uFillTx/>
                <a:latin typeface="Arial"/>
                <a:ea typeface="+mn-ea"/>
                <a:cs typeface="+mn-cs"/>
              </a:rPr>
              <a:t>is a group of dynamic equipment (e.g. 6 ea. air handling units) that share the same UNIFORMAT classification, was installed at approximately the same time, and can be expected to follow a similar life cycle degradation. A CIMU is the consolidation of similar components/equipment into a single management unit. </a:t>
            </a:r>
          </a:p>
        </p:txBody>
      </p:sp>
    </p:spTree>
    <p:extLst>
      <p:ext uri="{BB962C8B-B14F-4D97-AF65-F5344CB8AC3E}">
        <p14:creationId xmlns:p14="http://schemas.microsoft.com/office/powerpoint/2010/main" val="2935471436"/>
      </p:ext>
    </p:extLst>
  </p:cSld>
  <p:clrMapOvr>
    <a:masterClrMapping/>
  </p:clrMapOvr>
  <p:transition>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C5512-C224-E89E-2745-692CEE64E57A}"/>
              </a:ext>
            </a:extLst>
          </p:cNvPr>
          <p:cNvSpPr>
            <a:spLocks noGrp="1"/>
          </p:cNvSpPr>
          <p:nvPr>
            <p:ph type="title"/>
          </p:nvPr>
        </p:nvSpPr>
        <p:spPr/>
        <p:txBody>
          <a:bodyPr/>
          <a:lstStyle/>
          <a:p>
            <a:r>
              <a:rPr lang="en-US" sz="2800" dirty="0"/>
              <a:t>Essential information required for assets in MAXIMO cont.</a:t>
            </a:r>
          </a:p>
        </p:txBody>
      </p:sp>
      <p:pic>
        <p:nvPicPr>
          <p:cNvPr id="6" name="Content Placeholder 5">
            <a:extLst>
              <a:ext uri="{FF2B5EF4-FFF2-40B4-BE49-F238E27FC236}">
                <a16:creationId xmlns:a16="http://schemas.microsoft.com/office/drawing/2014/main" id="{37372B19-547C-F1AE-1F60-2DE53107595D}"/>
              </a:ext>
            </a:extLst>
          </p:cNvPr>
          <p:cNvPicPr>
            <a:picLocks noGrp="1" noChangeAspect="1"/>
          </p:cNvPicPr>
          <p:nvPr>
            <p:ph idx="1"/>
          </p:nvPr>
        </p:nvPicPr>
        <p:blipFill>
          <a:blip r:embed="rId2"/>
          <a:stretch>
            <a:fillRect/>
          </a:stretch>
        </p:blipFill>
        <p:spPr>
          <a:xfrm>
            <a:off x="39308" y="1371503"/>
            <a:ext cx="3168353" cy="2078037"/>
          </a:xfrm>
          <a:prstGeom prst="rect">
            <a:avLst/>
          </a:prstGeom>
        </p:spPr>
      </p:pic>
      <p:pic>
        <p:nvPicPr>
          <p:cNvPr id="7" name="Picture 6">
            <a:extLst>
              <a:ext uri="{FF2B5EF4-FFF2-40B4-BE49-F238E27FC236}">
                <a16:creationId xmlns:a16="http://schemas.microsoft.com/office/drawing/2014/main" id="{6FA210EF-B041-0D81-646E-8E57D724B1E6}"/>
              </a:ext>
            </a:extLst>
          </p:cNvPr>
          <p:cNvPicPr>
            <a:picLocks noChangeAspect="1"/>
          </p:cNvPicPr>
          <p:nvPr/>
        </p:nvPicPr>
        <p:blipFill>
          <a:blip r:embed="rId3"/>
          <a:stretch>
            <a:fillRect/>
          </a:stretch>
        </p:blipFill>
        <p:spPr>
          <a:xfrm>
            <a:off x="9265777" y="1371503"/>
            <a:ext cx="2552700" cy="1790700"/>
          </a:xfrm>
          <a:prstGeom prst="rect">
            <a:avLst/>
          </a:prstGeom>
        </p:spPr>
      </p:pic>
      <p:pic>
        <p:nvPicPr>
          <p:cNvPr id="9" name="Picture 8">
            <a:extLst>
              <a:ext uri="{FF2B5EF4-FFF2-40B4-BE49-F238E27FC236}">
                <a16:creationId xmlns:a16="http://schemas.microsoft.com/office/drawing/2014/main" id="{5D169C7F-F80F-D4BB-DD9C-F7562E0309A3}"/>
              </a:ext>
            </a:extLst>
          </p:cNvPr>
          <p:cNvPicPr>
            <a:picLocks noChangeAspect="1"/>
          </p:cNvPicPr>
          <p:nvPr/>
        </p:nvPicPr>
        <p:blipFill>
          <a:blip r:embed="rId4"/>
          <a:stretch>
            <a:fillRect/>
          </a:stretch>
        </p:blipFill>
        <p:spPr>
          <a:xfrm>
            <a:off x="403257" y="4203123"/>
            <a:ext cx="3276245" cy="2078036"/>
          </a:xfrm>
          <a:prstGeom prst="rect">
            <a:avLst/>
          </a:prstGeom>
        </p:spPr>
      </p:pic>
      <p:pic>
        <p:nvPicPr>
          <p:cNvPr id="10" name="Picture 9">
            <a:extLst>
              <a:ext uri="{FF2B5EF4-FFF2-40B4-BE49-F238E27FC236}">
                <a16:creationId xmlns:a16="http://schemas.microsoft.com/office/drawing/2014/main" id="{E7B3FC9F-3884-32C2-F92E-CD2F5650A80F}"/>
              </a:ext>
            </a:extLst>
          </p:cNvPr>
          <p:cNvPicPr>
            <a:picLocks noChangeAspect="1"/>
          </p:cNvPicPr>
          <p:nvPr/>
        </p:nvPicPr>
        <p:blipFill>
          <a:blip r:embed="rId5"/>
          <a:stretch>
            <a:fillRect/>
          </a:stretch>
        </p:blipFill>
        <p:spPr>
          <a:xfrm>
            <a:off x="4327020" y="3767093"/>
            <a:ext cx="3537959" cy="2726107"/>
          </a:xfrm>
          <a:prstGeom prst="rect">
            <a:avLst/>
          </a:prstGeom>
        </p:spPr>
      </p:pic>
      <p:pic>
        <p:nvPicPr>
          <p:cNvPr id="11" name="Picture 10">
            <a:extLst>
              <a:ext uri="{FF2B5EF4-FFF2-40B4-BE49-F238E27FC236}">
                <a16:creationId xmlns:a16="http://schemas.microsoft.com/office/drawing/2014/main" id="{A12AEFB3-A655-1E94-F664-DFC11C2A6505}"/>
              </a:ext>
            </a:extLst>
          </p:cNvPr>
          <p:cNvPicPr>
            <a:picLocks noChangeAspect="1"/>
          </p:cNvPicPr>
          <p:nvPr/>
        </p:nvPicPr>
        <p:blipFill>
          <a:blip r:embed="rId6"/>
          <a:stretch>
            <a:fillRect/>
          </a:stretch>
        </p:blipFill>
        <p:spPr>
          <a:xfrm>
            <a:off x="8512497" y="3808218"/>
            <a:ext cx="3213218" cy="2643856"/>
          </a:xfrm>
          <a:prstGeom prst="rect">
            <a:avLst/>
          </a:prstGeom>
        </p:spPr>
      </p:pic>
      <p:sp>
        <p:nvSpPr>
          <p:cNvPr id="13" name="TextBox 12">
            <a:extLst>
              <a:ext uri="{FF2B5EF4-FFF2-40B4-BE49-F238E27FC236}">
                <a16:creationId xmlns:a16="http://schemas.microsoft.com/office/drawing/2014/main" id="{8310ABC5-0781-485C-472D-AB510A2D1976}"/>
              </a:ext>
            </a:extLst>
          </p:cNvPr>
          <p:cNvSpPr txBox="1"/>
          <p:nvPr/>
        </p:nvSpPr>
        <p:spPr>
          <a:xfrm>
            <a:off x="3168353" y="1684875"/>
            <a:ext cx="6097424" cy="1107996"/>
          </a:xfrm>
          <a:prstGeom prst="rect">
            <a:avLst/>
          </a:prstGeom>
          <a:noFill/>
        </p:spPr>
        <p:txBody>
          <a:bodyPr wrap="square">
            <a:spAutoFit/>
          </a:bodyPr>
          <a:lstStyle/>
          <a:p>
            <a:r>
              <a:rPr lang="en-US" b="1" dirty="0"/>
              <a:t>BOTH </a:t>
            </a:r>
            <a:r>
              <a:rPr lang="en-US" sz="1600" dirty="0"/>
              <a:t>is a single, stand-alone piece of equipment (RPIE) that is managed independently and therefore is both a CIMU and an RPIE. Typical examples are larger, more expensive RPIE with longer design lives such as chillers, boilers, elevators, etc. </a:t>
            </a:r>
          </a:p>
        </p:txBody>
      </p:sp>
    </p:spTree>
    <p:extLst>
      <p:ext uri="{BB962C8B-B14F-4D97-AF65-F5344CB8AC3E}">
        <p14:creationId xmlns:p14="http://schemas.microsoft.com/office/powerpoint/2010/main" val="4275385182"/>
      </p:ext>
    </p:extLst>
  </p:cSld>
  <p:clrMapOvr>
    <a:masterClrMapping/>
  </p:clrMapOvr>
  <p:transition>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009D1-FBCD-D673-C390-B85A53FF343D}"/>
              </a:ext>
            </a:extLst>
          </p:cNvPr>
          <p:cNvSpPr>
            <a:spLocks noGrp="1"/>
          </p:cNvSpPr>
          <p:nvPr>
            <p:ph type="title"/>
          </p:nvPr>
        </p:nvSpPr>
        <p:spPr/>
        <p:txBody>
          <a:bodyPr/>
          <a:lstStyle/>
          <a:p>
            <a:r>
              <a:rPr lang="en-US" sz="2800" dirty="0"/>
              <a:t>Essential information required for assets in MAXIMO cont.</a:t>
            </a:r>
          </a:p>
        </p:txBody>
      </p:sp>
      <p:sp>
        <p:nvSpPr>
          <p:cNvPr id="3" name="Content Placeholder 2">
            <a:extLst>
              <a:ext uri="{FF2B5EF4-FFF2-40B4-BE49-F238E27FC236}">
                <a16:creationId xmlns:a16="http://schemas.microsoft.com/office/drawing/2014/main" id="{4D4A8A47-748A-C01C-1C12-AFE30BF0DD32}"/>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Tx/>
              <a:buSzTx/>
              <a:buNone/>
              <a:tabLst/>
              <a:defRPr/>
            </a:pPr>
            <a:endParaRPr kumimoji="0" lang="en-US" sz="2000" b="0" i="0" u="none" strike="noStrike" kern="0" cap="none" spc="0" normalizeH="0" baseline="0" noProof="0" dirty="0">
              <a:ln>
                <a:noFill/>
              </a:ln>
              <a:solidFill>
                <a:srgbClr val="003367"/>
              </a:solidFill>
              <a:effectLst/>
              <a:uLnTx/>
              <a:uFillTx/>
              <a:latin typeface="Arial"/>
              <a:ea typeface="+mn-ea"/>
              <a:cs typeface="+mn-cs"/>
            </a:endParaRPr>
          </a:p>
          <a:p>
            <a:pPr marL="114300" marR="0" lvl="0" indent="-114300" algn="l" defTabSz="914400" rtl="0" eaLnBrk="0" fontAlgn="base" latinLnBrk="0" hangingPunct="0">
              <a:lnSpc>
                <a:spcPct val="100000"/>
              </a:lnSpc>
              <a:spcBef>
                <a:spcPct val="20000"/>
              </a:spcBef>
              <a:spcAft>
                <a:spcPct val="0"/>
              </a:spcAft>
              <a:buClrTx/>
              <a:buSzTx/>
              <a:buFontTx/>
              <a:buChar char="•"/>
              <a:tabLst/>
              <a:defRPr/>
            </a:pPr>
            <a:r>
              <a:rPr kumimoji="0" lang="en-US" sz="2000" b="0" i="0" u="none" strike="noStrike" kern="0" cap="none" spc="0" normalizeH="0" baseline="0" noProof="0" dirty="0">
                <a:ln>
                  <a:noFill/>
                </a:ln>
                <a:solidFill>
                  <a:srgbClr val="003367"/>
                </a:solidFill>
                <a:effectLst/>
                <a:uLnTx/>
                <a:uFillTx/>
                <a:latin typeface="Arial"/>
                <a:ea typeface="+mn-ea"/>
                <a:cs typeface="+mn-cs"/>
              </a:rPr>
              <a:t>A </a:t>
            </a:r>
            <a:r>
              <a:rPr kumimoji="0" lang="en-US" sz="2000" b="1" i="0" u="none" strike="noStrike" kern="0" cap="none" spc="0" normalizeH="0" baseline="0" noProof="0" dirty="0">
                <a:ln>
                  <a:noFill/>
                </a:ln>
                <a:solidFill>
                  <a:srgbClr val="003367"/>
                </a:solidFill>
                <a:effectLst/>
                <a:uLnTx/>
                <a:uFillTx/>
                <a:latin typeface="Arial"/>
                <a:ea typeface="+mn-ea"/>
                <a:cs typeface="+mn-cs"/>
              </a:rPr>
              <a:t>Real Property Installed Equipment (RPIE) </a:t>
            </a:r>
            <a:r>
              <a:rPr kumimoji="0" lang="en-US" sz="1600" b="0" i="0" u="none" strike="noStrike" kern="0" cap="none" spc="0" normalizeH="0" baseline="0" noProof="0" dirty="0">
                <a:ln>
                  <a:noFill/>
                </a:ln>
                <a:solidFill>
                  <a:srgbClr val="003367"/>
                </a:solidFill>
                <a:effectLst/>
                <a:uLnTx/>
                <a:uFillTx/>
                <a:latin typeface="Arial"/>
                <a:ea typeface="+mn-ea"/>
                <a:cs typeface="+mn-cs"/>
              </a:rPr>
              <a:t>is an item of equipment that is affixed and built into a facility as an integral part of that facility. To qualify as RPIE, the equipment must be necessary to make the facility complete, and if removed, would destroy or severely reduce the designed usefulness and operation of the facility. RPIE included such items as control systems, heating, cooling, electrical, emergency lighting, etc. Individual pieces of like equipment (RPIE) are grouped into CIMUs. Condition is managed at the CIMU level, not at the RPIE level. </a:t>
            </a:r>
          </a:p>
          <a:p>
            <a:endParaRPr lang="en-US" dirty="0"/>
          </a:p>
        </p:txBody>
      </p:sp>
      <p:pic>
        <p:nvPicPr>
          <p:cNvPr id="4" name="Picture 3">
            <a:extLst>
              <a:ext uri="{FF2B5EF4-FFF2-40B4-BE49-F238E27FC236}">
                <a16:creationId xmlns:a16="http://schemas.microsoft.com/office/drawing/2014/main" id="{C9AD673E-9F64-FC2C-EEB4-8E6289D27630}"/>
              </a:ext>
            </a:extLst>
          </p:cNvPr>
          <p:cNvPicPr>
            <a:picLocks noChangeAspect="1"/>
          </p:cNvPicPr>
          <p:nvPr/>
        </p:nvPicPr>
        <p:blipFill>
          <a:blip r:embed="rId2"/>
          <a:stretch>
            <a:fillRect/>
          </a:stretch>
        </p:blipFill>
        <p:spPr>
          <a:xfrm>
            <a:off x="861485" y="3756819"/>
            <a:ext cx="3590587" cy="2320398"/>
          </a:xfrm>
          <a:prstGeom prst="rect">
            <a:avLst/>
          </a:prstGeom>
        </p:spPr>
      </p:pic>
      <p:pic>
        <p:nvPicPr>
          <p:cNvPr id="5" name="Picture 4">
            <a:extLst>
              <a:ext uri="{FF2B5EF4-FFF2-40B4-BE49-F238E27FC236}">
                <a16:creationId xmlns:a16="http://schemas.microsoft.com/office/drawing/2014/main" id="{C8974246-2111-7A53-48E4-D6E3B6F7078E}"/>
              </a:ext>
            </a:extLst>
          </p:cNvPr>
          <p:cNvPicPr>
            <a:picLocks noChangeAspect="1"/>
          </p:cNvPicPr>
          <p:nvPr/>
        </p:nvPicPr>
        <p:blipFill>
          <a:blip r:embed="rId3"/>
          <a:stretch>
            <a:fillRect/>
          </a:stretch>
        </p:blipFill>
        <p:spPr>
          <a:xfrm>
            <a:off x="5029199" y="3756818"/>
            <a:ext cx="2568011" cy="2320397"/>
          </a:xfrm>
          <a:prstGeom prst="rect">
            <a:avLst/>
          </a:prstGeom>
        </p:spPr>
      </p:pic>
      <p:pic>
        <p:nvPicPr>
          <p:cNvPr id="6" name="Picture 5">
            <a:extLst>
              <a:ext uri="{FF2B5EF4-FFF2-40B4-BE49-F238E27FC236}">
                <a16:creationId xmlns:a16="http://schemas.microsoft.com/office/drawing/2014/main" id="{42B55C19-93D7-7868-E6FE-7675CAB7F36A}"/>
              </a:ext>
            </a:extLst>
          </p:cNvPr>
          <p:cNvPicPr>
            <a:picLocks noChangeAspect="1"/>
          </p:cNvPicPr>
          <p:nvPr/>
        </p:nvPicPr>
        <p:blipFill>
          <a:blip r:embed="rId4"/>
          <a:stretch>
            <a:fillRect/>
          </a:stretch>
        </p:blipFill>
        <p:spPr>
          <a:xfrm>
            <a:off x="8619786" y="3906585"/>
            <a:ext cx="2466975" cy="1847850"/>
          </a:xfrm>
          <a:prstGeom prst="rect">
            <a:avLst/>
          </a:prstGeom>
        </p:spPr>
      </p:pic>
    </p:spTree>
    <p:extLst>
      <p:ext uri="{BB962C8B-B14F-4D97-AF65-F5344CB8AC3E}">
        <p14:creationId xmlns:p14="http://schemas.microsoft.com/office/powerpoint/2010/main" val="1146683630"/>
      </p:ext>
    </p:extLst>
  </p:cSld>
  <p:clrMapOvr>
    <a:masterClrMapping/>
  </p:clrMapOvr>
  <p:transition>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z="2800" b="1" i="0" u="none" strike="noStrike" kern="0" cap="none" spc="0" normalizeH="0" baseline="0" noProof="0" dirty="0">
                <a:ln>
                  <a:noFill/>
                </a:ln>
                <a:solidFill>
                  <a:srgbClr val="273D84"/>
                </a:solidFill>
                <a:effectLst/>
                <a:uLnTx/>
                <a:uFillTx/>
                <a:latin typeface="Arial Narrow"/>
                <a:ea typeface="+mj-ea"/>
                <a:cs typeface="+mj-cs"/>
              </a:rPr>
              <a:t>Essential information required for assets in MAXIMO cont.</a:t>
            </a:r>
            <a:endParaRPr lang="en-US" dirty="0"/>
          </a:p>
        </p:txBody>
      </p:sp>
      <p:pic>
        <p:nvPicPr>
          <p:cNvPr id="4" name="Content Placeholder 3"/>
          <p:cNvPicPr>
            <a:picLocks noGrp="1" noChangeAspect="1"/>
          </p:cNvPicPr>
          <p:nvPr>
            <p:ph idx="1"/>
          </p:nvPr>
        </p:nvPicPr>
        <p:blipFill>
          <a:blip r:embed="rId2"/>
          <a:stretch>
            <a:fillRect/>
          </a:stretch>
        </p:blipFill>
        <p:spPr>
          <a:xfrm>
            <a:off x="2446338" y="1475581"/>
            <a:ext cx="7620000" cy="4562475"/>
          </a:xfrm>
          <a:prstGeom prst="rect">
            <a:avLst/>
          </a:prstGeom>
        </p:spPr>
      </p:pic>
    </p:spTree>
    <p:extLst>
      <p:ext uri="{BB962C8B-B14F-4D97-AF65-F5344CB8AC3E}">
        <p14:creationId xmlns:p14="http://schemas.microsoft.com/office/powerpoint/2010/main" val="2451964651"/>
      </p:ext>
    </p:extLst>
  </p:cSld>
  <p:clrMapOvr>
    <a:masterClrMapping/>
  </p:clrMapOvr>
  <p:transition>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CIMU, RPIE &amp; BOTH</a:t>
            </a:r>
          </a:p>
        </p:txBody>
      </p:sp>
      <p:pic>
        <p:nvPicPr>
          <p:cNvPr id="4" name="Content Placeholder 3"/>
          <p:cNvPicPr>
            <a:picLocks noGrp="1" noChangeAspect="1"/>
          </p:cNvPicPr>
          <p:nvPr>
            <p:ph idx="1"/>
          </p:nvPr>
        </p:nvPicPr>
        <p:blipFill>
          <a:blip r:embed="rId2"/>
          <a:stretch>
            <a:fillRect/>
          </a:stretch>
        </p:blipFill>
        <p:spPr>
          <a:xfrm>
            <a:off x="2158900" y="1567543"/>
            <a:ext cx="8194876" cy="3992033"/>
          </a:xfrm>
          <a:prstGeom prst="rect">
            <a:avLst/>
          </a:prstGeom>
        </p:spPr>
      </p:pic>
      <p:sp>
        <p:nvSpPr>
          <p:cNvPr id="5" name="Rectangle 4"/>
          <p:cNvSpPr/>
          <p:nvPr/>
        </p:nvSpPr>
        <p:spPr>
          <a:xfrm>
            <a:off x="5403123" y="5744961"/>
            <a:ext cx="1706429" cy="369332"/>
          </a:xfrm>
          <a:prstGeom prst="rect">
            <a:avLst/>
          </a:prstGeom>
        </p:spPr>
        <p:txBody>
          <a:bodyPr wrap="none">
            <a:spAutoFit/>
          </a:bodyPr>
          <a:lstStyle/>
          <a:p>
            <a:r>
              <a:rPr lang="en-US" dirty="0"/>
              <a:t>HVAC System </a:t>
            </a:r>
          </a:p>
        </p:txBody>
      </p:sp>
    </p:spTree>
    <p:extLst>
      <p:ext uri="{BB962C8B-B14F-4D97-AF65-F5344CB8AC3E}">
        <p14:creationId xmlns:p14="http://schemas.microsoft.com/office/powerpoint/2010/main" val="1637523696"/>
      </p:ext>
    </p:extLst>
  </p:cSld>
  <p:clrMapOvr>
    <a:masterClrMapping/>
  </p:clrMapOvr>
  <p:transition>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EC585-787E-A7C4-A072-45C35EBD59C3}"/>
              </a:ext>
            </a:extLst>
          </p:cNvPr>
          <p:cNvSpPr>
            <a:spLocks noGrp="1"/>
          </p:cNvSpPr>
          <p:nvPr>
            <p:ph type="title"/>
          </p:nvPr>
        </p:nvSpPr>
        <p:spPr/>
        <p:txBody>
          <a:bodyPr/>
          <a:lstStyle/>
          <a:p>
            <a:r>
              <a:rPr lang="en-US" dirty="0"/>
              <a:t>Helpful Information for assets in MAXIMO </a:t>
            </a:r>
          </a:p>
        </p:txBody>
      </p:sp>
      <p:pic>
        <p:nvPicPr>
          <p:cNvPr id="5" name="Content Placeholder 4">
            <a:extLst>
              <a:ext uri="{FF2B5EF4-FFF2-40B4-BE49-F238E27FC236}">
                <a16:creationId xmlns:a16="http://schemas.microsoft.com/office/drawing/2014/main" id="{FF21E030-91AB-D08E-5AF4-A6FDB8AC077E}"/>
              </a:ext>
            </a:extLst>
          </p:cNvPr>
          <p:cNvPicPr>
            <a:picLocks noGrp="1" noChangeAspect="1"/>
          </p:cNvPicPr>
          <p:nvPr>
            <p:ph idx="1"/>
          </p:nvPr>
        </p:nvPicPr>
        <p:blipFill>
          <a:blip r:embed="rId2"/>
          <a:stretch>
            <a:fillRect/>
          </a:stretch>
        </p:blipFill>
        <p:spPr>
          <a:xfrm>
            <a:off x="864210" y="1768979"/>
            <a:ext cx="10788650" cy="4238714"/>
          </a:xfrm>
        </p:spPr>
      </p:pic>
      <p:pic>
        <p:nvPicPr>
          <p:cNvPr id="6" name="Picture 5">
            <a:extLst>
              <a:ext uri="{FF2B5EF4-FFF2-40B4-BE49-F238E27FC236}">
                <a16:creationId xmlns:a16="http://schemas.microsoft.com/office/drawing/2014/main" id="{02D915EF-6EC0-A3FE-5D7E-F258280677F4}"/>
              </a:ext>
            </a:extLst>
          </p:cNvPr>
          <p:cNvPicPr>
            <a:picLocks noChangeAspect="1"/>
          </p:cNvPicPr>
          <p:nvPr/>
        </p:nvPicPr>
        <p:blipFill>
          <a:blip r:embed="rId3"/>
          <a:stretch>
            <a:fillRect/>
          </a:stretch>
        </p:blipFill>
        <p:spPr>
          <a:xfrm>
            <a:off x="1868148" y="5161879"/>
            <a:ext cx="1755800" cy="1322947"/>
          </a:xfrm>
          <a:prstGeom prst="rect">
            <a:avLst/>
          </a:prstGeom>
        </p:spPr>
      </p:pic>
      <p:cxnSp>
        <p:nvCxnSpPr>
          <p:cNvPr id="7" name="Straight Arrow Connector 6">
            <a:extLst>
              <a:ext uri="{FF2B5EF4-FFF2-40B4-BE49-F238E27FC236}">
                <a16:creationId xmlns:a16="http://schemas.microsoft.com/office/drawing/2014/main" id="{E6326465-D20F-8ADD-3438-048A3DF00E0D}"/>
              </a:ext>
            </a:extLst>
          </p:cNvPr>
          <p:cNvCxnSpPr/>
          <p:nvPr/>
        </p:nvCxnSpPr>
        <p:spPr bwMode="auto">
          <a:xfrm>
            <a:off x="3623948" y="5161879"/>
            <a:ext cx="548755" cy="0"/>
          </a:xfrm>
          <a:prstGeom prst="straightConnector1">
            <a:avLst/>
          </a:prstGeom>
          <a:noFill/>
          <a:ln w="28575" cap="flat" cmpd="sng" algn="ctr">
            <a:solidFill>
              <a:srgbClr val="FF0000"/>
            </a:solidFill>
            <a:prstDash val="solid"/>
            <a:round/>
            <a:headEnd type="none" w="med" len="med"/>
            <a:tailEnd type="triangle"/>
          </a:ln>
          <a:effectLst/>
        </p:spPr>
      </p:cxnSp>
      <p:sp>
        <p:nvSpPr>
          <p:cNvPr id="8" name="TextBox 7">
            <a:extLst>
              <a:ext uri="{FF2B5EF4-FFF2-40B4-BE49-F238E27FC236}">
                <a16:creationId xmlns:a16="http://schemas.microsoft.com/office/drawing/2014/main" id="{4C0AF042-7BA3-B679-C24A-297C6F52333D}"/>
              </a:ext>
            </a:extLst>
          </p:cNvPr>
          <p:cNvSpPr txBox="1"/>
          <p:nvPr/>
        </p:nvSpPr>
        <p:spPr>
          <a:xfrm>
            <a:off x="4051512" y="3119815"/>
            <a:ext cx="2096579" cy="646331"/>
          </a:xfrm>
          <a:prstGeom prst="rect">
            <a:avLst/>
          </a:prstGeom>
          <a:solidFill>
            <a:schemeClr val="bg1">
              <a:lumMod val="85000"/>
            </a:schemeClr>
          </a:solidFill>
        </p:spPr>
        <p:txBody>
          <a:bodyPr wrap="square" rtlCol="0">
            <a:spAutoFit/>
          </a:bodyPr>
          <a:lstStyle/>
          <a:p>
            <a:r>
              <a:rPr lang="en-US" dirty="0"/>
              <a:t>Click here to add any additional info.</a:t>
            </a:r>
          </a:p>
        </p:txBody>
      </p:sp>
      <p:cxnSp>
        <p:nvCxnSpPr>
          <p:cNvPr id="9" name="Straight Arrow Connector 8">
            <a:extLst>
              <a:ext uri="{FF2B5EF4-FFF2-40B4-BE49-F238E27FC236}">
                <a16:creationId xmlns:a16="http://schemas.microsoft.com/office/drawing/2014/main" id="{D47BC806-D851-8A88-5629-AB430567B71B}"/>
              </a:ext>
            </a:extLst>
          </p:cNvPr>
          <p:cNvCxnSpPr/>
          <p:nvPr/>
        </p:nvCxnSpPr>
        <p:spPr bwMode="auto">
          <a:xfrm flipV="1">
            <a:off x="6148091" y="3157721"/>
            <a:ext cx="220888" cy="285260"/>
          </a:xfrm>
          <a:prstGeom prst="straightConnector1">
            <a:avLst/>
          </a:prstGeom>
          <a:noFill/>
          <a:ln w="28575" cap="flat" cmpd="sng" algn="ctr">
            <a:solidFill>
              <a:srgbClr val="FF0000"/>
            </a:solidFill>
            <a:prstDash val="solid"/>
            <a:round/>
            <a:headEnd type="none" w="med" len="med"/>
            <a:tailEnd type="triangle"/>
          </a:ln>
          <a:effectLst/>
        </p:spPr>
      </p:cxnSp>
      <p:sp>
        <p:nvSpPr>
          <p:cNvPr id="11" name="Rectangle 10">
            <a:extLst>
              <a:ext uri="{FF2B5EF4-FFF2-40B4-BE49-F238E27FC236}">
                <a16:creationId xmlns:a16="http://schemas.microsoft.com/office/drawing/2014/main" id="{FB56A107-E1A2-6EF9-C807-A10EC6D156F5}"/>
              </a:ext>
            </a:extLst>
          </p:cNvPr>
          <p:cNvSpPr/>
          <p:nvPr/>
        </p:nvSpPr>
        <p:spPr bwMode="auto">
          <a:xfrm>
            <a:off x="6380654" y="2873777"/>
            <a:ext cx="257908" cy="283944"/>
          </a:xfrm>
          <a:prstGeom prst="rect">
            <a:avLst/>
          </a:prstGeom>
          <a:noFill/>
          <a:ln w="28575" cap="flat" cmpd="sng" algn="ctr">
            <a:solidFill>
              <a:srgbClr val="FF0000"/>
            </a:solidFill>
            <a:prstDash val="solid"/>
            <a:round/>
            <a:headEnd type="none" w="med" len="med"/>
            <a:tailEnd type="none" w="med" len="med"/>
          </a:ln>
          <a:effectLst/>
        </p:spPr>
        <p:txBody>
          <a:bodyPr vert="horz" wrap="square" lIns="99276" tIns="49638" rIns="99276" bIns="49638" numCol="1" rtlCol="0" anchor="t" anchorCtr="0" compatLnSpc="1">
            <a:prstTxWarp prst="textNoShape">
              <a:avLst/>
            </a:prstTxWarp>
            <a:spAutoFit/>
          </a:bodyPr>
          <a:lstStyle/>
          <a:p>
            <a:pPr marL="0" marR="0" indent="0" algn="ctr" defTabSz="992188"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bg1"/>
              </a:solidFill>
              <a:effectLst/>
              <a:latin typeface="Arial" charset="0"/>
              <a:cs typeface="Arial" charset="0"/>
            </a:endParaRPr>
          </a:p>
        </p:txBody>
      </p:sp>
      <p:cxnSp>
        <p:nvCxnSpPr>
          <p:cNvPr id="12" name="Straight Arrow Connector 11">
            <a:extLst>
              <a:ext uri="{FF2B5EF4-FFF2-40B4-BE49-F238E27FC236}">
                <a16:creationId xmlns:a16="http://schemas.microsoft.com/office/drawing/2014/main" id="{E4D5C8FC-64C5-7E1C-9440-48498838926F}"/>
              </a:ext>
            </a:extLst>
          </p:cNvPr>
          <p:cNvCxnSpPr/>
          <p:nvPr/>
        </p:nvCxnSpPr>
        <p:spPr bwMode="auto">
          <a:xfrm flipH="1">
            <a:off x="7896286" y="4382061"/>
            <a:ext cx="640512" cy="0"/>
          </a:xfrm>
          <a:prstGeom prst="straightConnector1">
            <a:avLst/>
          </a:prstGeom>
          <a:noFill/>
          <a:ln w="28575" cap="flat" cmpd="sng" algn="ctr">
            <a:solidFill>
              <a:srgbClr val="FF0000"/>
            </a:solidFill>
            <a:prstDash val="solid"/>
            <a:round/>
            <a:headEnd type="none" w="med" len="med"/>
            <a:tailEnd type="triangle"/>
          </a:ln>
          <a:effectLst/>
        </p:spPr>
      </p:cxnSp>
      <p:sp>
        <p:nvSpPr>
          <p:cNvPr id="13" name="TextBox 12">
            <a:extLst>
              <a:ext uri="{FF2B5EF4-FFF2-40B4-BE49-F238E27FC236}">
                <a16:creationId xmlns:a16="http://schemas.microsoft.com/office/drawing/2014/main" id="{F8628255-A98A-EC7E-0C1A-C408D97FEF35}"/>
              </a:ext>
            </a:extLst>
          </p:cNvPr>
          <p:cNvSpPr txBox="1"/>
          <p:nvPr/>
        </p:nvSpPr>
        <p:spPr>
          <a:xfrm>
            <a:off x="7150120" y="5293558"/>
            <a:ext cx="3210273" cy="646331"/>
          </a:xfrm>
          <a:prstGeom prst="rect">
            <a:avLst/>
          </a:prstGeom>
          <a:solidFill>
            <a:schemeClr val="bg1">
              <a:lumMod val="85000"/>
            </a:schemeClr>
          </a:solidFill>
        </p:spPr>
        <p:txBody>
          <a:bodyPr wrap="square" rtlCol="0">
            <a:spAutoFit/>
          </a:bodyPr>
          <a:lstStyle/>
          <a:p>
            <a:r>
              <a:rPr lang="en-US" dirty="0"/>
              <a:t>Comments are required when DCR is less than G- (88)</a:t>
            </a:r>
          </a:p>
        </p:txBody>
      </p:sp>
      <p:sp>
        <p:nvSpPr>
          <p:cNvPr id="14" name="TextBox 13">
            <a:extLst>
              <a:ext uri="{FF2B5EF4-FFF2-40B4-BE49-F238E27FC236}">
                <a16:creationId xmlns:a16="http://schemas.microsoft.com/office/drawing/2014/main" id="{EBC78CD0-3518-F878-F40E-6CE415EE136D}"/>
              </a:ext>
            </a:extLst>
          </p:cNvPr>
          <p:cNvSpPr txBox="1"/>
          <p:nvPr/>
        </p:nvSpPr>
        <p:spPr>
          <a:xfrm>
            <a:off x="8536798" y="4075740"/>
            <a:ext cx="2458444" cy="923330"/>
          </a:xfrm>
          <a:prstGeom prst="rect">
            <a:avLst/>
          </a:prstGeom>
          <a:solidFill>
            <a:schemeClr val="bg1">
              <a:lumMod val="85000"/>
            </a:schemeClr>
          </a:solidFill>
        </p:spPr>
        <p:txBody>
          <a:bodyPr wrap="square" rtlCol="0">
            <a:spAutoFit/>
          </a:bodyPr>
          <a:lstStyle/>
          <a:p>
            <a:r>
              <a:rPr lang="en-US" dirty="0"/>
              <a:t>Special Requirement for any characteristics out of the ordinary</a:t>
            </a:r>
          </a:p>
        </p:txBody>
      </p:sp>
      <p:cxnSp>
        <p:nvCxnSpPr>
          <p:cNvPr id="15" name="Straight Arrow Connector 14">
            <a:extLst>
              <a:ext uri="{FF2B5EF4-FFF2-40B4-BE49-F238E27FC236}">
                <a16:creationId xmlns:a16="http://schemas.microsoft.com/office/drawing/2014/main" id="{2D7BCE88-AC6E-521C-323F-D99A8F19F405}"/>
              </a:ext>
            </a:extLst>
          </p:cNvPr>
          <p:cNvCxnSpPr/>
          <p:nvPr/>
        </p:nvCxnSpPr>
        <p:spPr bwMode="auto">
          <a:xfrm flipH="1">
            <a:off x="6509608" y="5633814"/>
            <a:ext cx="640512" cy="0"/>
          </a:xfrm>
          <a:prstGeom prst="straightConnector1">
            <a:avLst/>
          </a:prstGeom>
          <a:noFill/>
          <a:ln w="285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415733706"/>
      </p:ext>
    </p:extLst>
  </p:cSld>
  <p:clrMapOvr>
    <a:masterClrMapping/>
  </p:clrMapOvr>
  <p:transition>
    <p:cover/>
  </p:transition>
</p:sld>
</file>

<file path=ppt/theme/theme1.xml><?xml version="1.0" encoding="utf-8"?>
<a:theme xmlns:a="http://schemas.openxmlformats.org/drawingml/2006/main" name="NAVFAC TEMPLATE WITH ACTIVITY NAME">
  <a:themeElements>
    <a:clrScheme name="NAVFAC TEMPLATE WITH ACTIVITY NAM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NAVFAC TEMPLATE WITH ACTIVITY NAME">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9276" tIns="49638" rIns="99276" bIns="49638" numCol="1" anchor="t" anchorCtr="0" compatLnSpc="1">
        <a:prstTxWarp prst="textNoShape">
          <a:avLst/>
        </a:prstTxWarp>
        <a:spAutoFit/>
      </a:bodyPr>
      <a:lstStyle>
        <a:defPPr marL="0" marR="0" indent="0" algn="ctr" defTabSz="9921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Arial" charset="0"/>
            <a:cs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9276" tIns="49638" rIns="99276" bIns="49638" numCol="1" anchor="t" anchorCtr="0" compatLnSpc="1">
        <a:prstTxWarp prst="textNoShape">
          <a:avLst/>
        </a:prstTxWarp>
        <a:spAutoFit/>
      </a:bodyPr>
      <a:lstStyle>
        <a:defPPr marL="0" marR="0" indent="0" algn="ctr" defTabSz="9921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Arial" charset="0"/>
            <a:cs typeface="Arial" charset="0"/>
          </a:defRPr>
        </a:defPPr>
      </a:lstStyle>
    </a:lnDef>
  </a:objectDefaults>
  <a:extraClrSchemeLst>
    <a:extraClrScheme>
      <a:clrScheme name="NAVFAC TEMPLATE WITH ACTIVITY NAM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NAVFAC TEMPLATE WITH ACTIVITY NAM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AVFAC TEMPLATE WITH ACTIVITY NAM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AVFAC TEMPLATE WITH ACTIVITY NAM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AVFAC TEMPLATE WITH ACTIVITY NA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AVFAC TEMPLATE WITH ACTIVITY NA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NAVFAC TEMPLATE WITH ACTIVITY NA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82330212-c339-4ec8-8444-a336cfbce7bc">
      <UserInfo>
        <DisplayName>Hernandez, Omar A CIV USN NAVFAC SE JAX FL (USA)</DisplayName>
        <AccountId>13</AccountId>
        <AccountType/>
      </UserInfo>
      <UserInfo>
        <DisplayName>Beering, Samuel C LT USN NAVFAC SE JAX FL (USA)</DisplayName>
        <AccountId>58</AccountId>
        <AccountType/>
      </UserInfo>
      <UserInfo>
        <DisplayName>Greenwood, Larry L CIV USN NAVFAC SE JAX FL (USA)</DisplayName>
        <AccountId>12</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EC8778D227F6C4ABBF305E7DC340BBE" ma:contentTypeVersion="7" ma:contentTypeDescription="Create a new document." ma:contentTypeScope="" ma:versionID="6a50dd05f193c82952307f7c68c5dec7">
  <xsd:schema xmlns:xsd="http://www.w3.org/2001/XMLSchema" xmlns:xs="http://www.w3.org/2001/XMLSchema" xmlns:p="http://schemas.microsoft.com/office/2006/metadata/properties" xmlns:ns2="6047edda-495e-4691-a9b6-5e9736965121" xmlns:ns3="82330212-c339-4ec8-8444-a336cfbce7bc" targetNamespace="http://schemas.microsoft.com/office/2006/metadata/properties" ma:root="true" ma:fieldsID="732ed83ab745d33c965a812bfb10f5a5" ns2:_="" ns3:_="">
    <xsd:import namespace="6047edda-495e-4691-a9b6-5e9736965121"/>
    <xsd:import namespace="82330212-c339-4ec8-8444-a336cfbce7b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47edda-495e-4691-a9b6-5e97369651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2330212-c339-4ec8-8444-a336cfbce7b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C3B1639-90C9-403C-A401-66983799D334}">
  <ds:schemaRefs>
    <ds:schemaRef ds:uri="http://schemas.microsoft.com/office/2006/metadata/properties"/>
    <ds:schemaRef ds:uri="http://schemas.microsoft.com/office/infopath/2007/PartnerControls"/>
    <ds:schemaRef ds:uri="82330212-c339-4ec8-8444-a336cfbce7bc"/>
  </ds:schemaRefs>
</ds:datastoreItem>
</file>

<file path=customXml/itemProps2.xml><?xml version="1.0" encoding="utf-8"?>
<ds:datastoreItem xmlns:ds="http://schemas.openxmlformats.org/officeDocument/2006/customXml" ds:itemID="{B92DF20F-10BF-4454-8D93-868A824BC6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047edda-495e-4691-a9b6-5e9736965121"/>
    <ds:schemaRef ds:uri="82330212-c339-4ec8-8444-a336cfbce7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B63D1CF-2FE5-4C91-93D7-07B4B6BD084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20275</TotalTime>
  <Words>1109</Words>
  <Application>Microsoft Office PowerPoint</Application>
  <PresentationFormat>Widescreen</PresentationFormat>
  <Paragraphs>202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Arial Narrow</vt:lpstr>
      <vt:lpstr>Calibri</vt:lpstr>
      <vt:lpstr>NAVFAC TEMPLATE WITH ACTIVITY NAME</vt:lpstr>
      <vt:lpstr>Asset Naming Convention</vt:lpstr>
      <vt:lpstr>Asset Naming Convention (Special Areas)</vt:lpstr>
      <vt:lpstr> Acronym List</vt:lpstr>
      <vt:lpstr>Essential information required for assets in MAXIMO cont.</vt:lpstr>
      <vt:lpstr>Essential information required for assets in MAXIMO cont.</vt:lpstr>
      <vt:lpstr>Essential information required for assets in MAXIMO cont.</vt:lpstr>
      <vt:lpstr>Essential information required for assets in MAXIMO cont.</vt:lpstr>
      <vt:lpstr>Essential information required for assets in MAXIMO cont.</vt:lpstr>
      <vt:lpstr>Example of CIMU, RPIE &amp; BOTH</vt:lpstr>
      <vt:lpstr>Helpful Information for assets in MAXIMO </vt:lpstr>
    </vt:vector>
  </TitlesOfParts>
  <Company>HPES NMCI NGEN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Santiago, Yamil CIV NAVFAC SE, PW</dc:creator>
  <cp:lastModifiedBy>Beering, Samuel C LCDR USN NAVFAC SE JAX FL (USA)</cp:lastModifiedBy>
  <cp:revision>277</cp:revision>
  <dcterms:created xsi:type="dcterms:W3CDTF">2020-05-11T17:25:15Z</dcterms:created>
  <dcterms:modified xsi:type="dcterms:W3CDTF">2024-11-14T04:32:45Z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0x0101007EC8778D227F6C4ABBF305E7DC340BBE</vt:lpwstr>
  </property>
</Properties>
</file>